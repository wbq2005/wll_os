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819150" y="3733800"/>
            <a:ext cx="4095750" cy="190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819150" y="1562100"/>
            <a:ext cx="4953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4500" b="1">
                <a:solidFill>
                  <a:srgbClr val="172033"/>
                </a:solidFill>
              </a:defRPr>
            </a:pPr>
            <a:r>
              <a:rPr sz="4500" b="1">
                <a:solidFill>
                  <a:srgbClr val="172033"/>
                </a:solidFill>
              </a:rPr>
              <a:t>wll_OS</a:t>
            </a:r>
            <a:endParaRPr sz="4500" b="1">
              <a:solidFill>
                <a:srgbClr val="17203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57250" y="245745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172033"/>
                </a:solidFill>
              </a:defRPr>
            </a:pPr>
            <a:r>
              <a:rPr sz="1650" b="0">
                <a:solidFill>
                  <a:srgbClr val="172033"/>
                </a:solidFill>
              </a:rPr>
              <a:t>中国大学生计算机系统能力大赛 · 操作系统内核赛道</a:t>
            </a:r>
            <a:endParaRPr sz="1650" b="0">
              <a:solidFill>
                <a:srgbClr val="1720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57250" y="3009900"/>
            <a:ext cx="342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72033"/>
                </a:solidFill>
              </a:defRPr>
            </a:pPr>
            <a:r>
              <a:rPr sz="2850" b="1">
                <a:solidFill>
                  <a:srgbClr val="172033"/>
                </a:solidFill>
              </a:rPr>
              <a:t>初赛汇报</a:t>
            </a:r>
            <a:endParaRPr sz="2850" b="1">
              <a:solidFill>
                <a:srgbClr val="172033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876300" y="3905250"/>
            <a:ext cx="110490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3952875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RISC-V64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2133600" y="3905250"/>
            <a:ext cx="13525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133600" y="3952875"/>
            <a:ext cx="1352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LoongArch64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657600" y="3905250"/>
            <a:ext cx="125730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657600" y="3952875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Rust Kernel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76300" y="575310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队伍 ID：T2026105749910208    学校：华南师范大学</a:t>
            </a:r>
            <a:endParaRPr sz="1350" b="0">
              <a:solidFill>
                <a:srgbClr val="172033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906000" y="5753100"/>
            <a:ext cx="1314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2026 / 06</a:t>
            </a:r>
            <a:endParaRPr sz="1350" b="0">
              <a:solidFill>
                <a:srgbClr val="172033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目录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参考往年优秀作品结构：介绍、成果、架构、核心模块、总结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76300" y="1571625"/>
            <a:ext cx="9334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81100" y="17430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01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943100" y="17049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项目介绍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629150" y="1743075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定位、目标与设计原则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876300" y="2409825"/>
            <a:ext cx="9334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181100" y="25812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02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943100" y="25431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最终成果展示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29150" y="2581275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双架构、测试脚本发现与评测路径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76300" y="3248025"/>
            <a:ext cx="9334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181100" y="34194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03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943100" y="33813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总体架构设计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629150" y="3419475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HAL、syscall、VFS、task、mm 的分层协作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876300" y="4086225"/>
            <a:ext cx="9334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181100" y="42576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04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943100" y="42195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模块与代码实现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629150" y="4257675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系统调用、内存、任务、文件系统、信号/网络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876300" y="4924425"/>
            <a:ext cx="9334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181100" y="5095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05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943100" y="50577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测试验证与计划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629150" y="5095875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当前覆盖、结果材料与后续计划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02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项目介绍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wll_OS：面向真实评测语义的 Rust 双架构内核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19150" y="1447800"/>
            <a:ext cx="9810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wll_OS 是一个面向 2026 操作系统内核赛道的 Rust 内核项目，当前支持 RISC-V64 与 LoongArch64。项目目标不是“打印通过标记”，而是以 QEMU 串口日志和 judge parser 输出为准，逐步逼近 Linux/asm-generic ABI 的真实可用子集。</a:t>
            </a:r>
            <a:endParaRPr sz="1500" b="0">
              <a:solidFill>
                <a:srgbClr val="172033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876300" y="2714625"/>
            <a:ext cx="2000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905125"/>
            <a:ext cx="2000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90600" y="3352800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目标架构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RISC-V64 / LoongArch64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162300" y="2714625"/>
            <a:ext cx="2381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162300" y="29051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80+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276600" y="3352800"/>
            <a:ext cx="2152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已接入/兼容的 syscall 分支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覆盖 libc 与评测常见路径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5829300" y="2714625"/>
            <a:ext cx="2381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5829300" y="29051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24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943600" y="3352800"/>
            <a:ext cx="2152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运行时发现脚本数量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glibc + musl 多 suite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8496300" y="2714625"/>
            <a:ext cx="2381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496300" y="29051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21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610600" y="3352800"/>
            <a:ext cx="2152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LTP slice case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按子系统渐进扩展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876300" y="4476750"/>
            <a:ext cx="2038350" cy="8763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76300" y="464820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双架构目标</a:t>
            </a:r>
            <a:endParaRPr sz="1425" b="1">
              <a:solidFill>
                <a:srgbClr val="111111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066800" y="49911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RISC-V64</a:t>
            </a:r>
            <a:endParaRPr sz="1125" b="0">
              <a:solidFill>
                <a:srgbClr val="4A4A4A"/>
              </a:solidFill>
            </a:endParaRPr>
          </a:p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LoongArch64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2990850" y="47815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→</a:t>
            </a:r>
            <a:endParaRPr sz="1800" b="1">
              <a:solidFill>
                <a:srgbClr val="172033"/>
              </a:solidFill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3448050" y="4476750"/>
            <a:ext cx="2038350" cy="8763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448050" y="464820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内核能力</a:t>
            </a:r>
            <a:endParaRPr sz="1425" b="1">
              <a:solidFill>
                <a:srgbClr val="111111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638550" y="49911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syscall / task / mm</a:t>
            </a:r>
            <a:endParaRPr sz="1125" b="0">
              <a:solidFill>
                <a:srgbClr val="4A4A4A"/>
              </a:solidFill>
            </a:endParaRPr>
          </a:p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fs / signal / socket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562600" y="47815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→</a:t>
            </a:r>
            <a:endParaRPr sz="1800" b="1">
              <a:solidFill>
                <a:srgbClr val="172033"/>
              </a:solidFill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6019800" y="4476750"/>
            <a:ext cx="2038350" cy="8763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019800" y="464820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运行时输入</a:t>
            </a:r>
            <a:endParaRPr sz="1425" b="1">
              <a:solidFill>
                <a:srgbClr val="111111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210300" y="49911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sdcard ext4</a:t>
            </a:r>
            <a:endParaRPr sz="1125" b="0">
              <a:solidFill>
                <a:srgbClr val="4A4A4A"/>
              </a:solidFill>
            </a:endParaRPr>
          </a:p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BusyBox / libc / LTP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134350" y="47815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→</a:t>
            </a:r>
            <a:endParaRPr sz="1800" b="1">
              <a:solidFill>
                <a:srgbClr val="172033"/>
              </a:solidFill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8591550" y="4476750"/>
            <a:ext cx="2038350" cy="8763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8591550" y="4648200"/>
            <a:ext cx="2038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验证输出</a:t>
            </a:r>
            <a:endParaRPr sz="1425" b="1">
              <a:solidFill>
                <a:srgbClr val="111111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782050" y="49911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serial.log</a:t>
            </a:r>
            <a:endParaRPr sz="1125" b="0">
              <a:solidFill>
                <a:srgbClr val="4A4A4A"/>
              </a:solidFill>
            </a:endParaRPr>
          </a:p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judge parser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03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最终成果展示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从构建产物到运行时 harness 的闭环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00100" y="1524000"/>
            <a:ext cx="3162300" cy="14097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0100" y="1524000"/>
            <a:ext cx="47625" cy="14097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09650" y="1695450"/>
            <a:ext cx="2838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双架构构建产物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09650" y="2076450"/>
            <a:ext cx="2819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Makefile all 生成 kernel-rv 与 kernel-la；仓库固定 nightly-2025-01-18，并使用离线 vendor 依赖保障评测环境可复现。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514850" y="1524000"/>
            <a:ext cx="3162300" cy="14097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14850" y="1524000"/>
            <a:ext cx="47625" cy="14097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724400" y="1695450"/>
            <a:ext cx="2838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运行时根文件系统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724400" y="2076450"/>
            <a:ext cx="2819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MemFS 预载 + VirtIO-blk ext4 叠加。默认构建不内嵌测试脚本，运行时从 ext4 扫描 *_testcode.sh。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229600" y="1524000"/>
            <a:ext cx="3162300" cy="14097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229600" y="1524000"/>
            <a:ext cx="47625" cy="14097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439150" y="1695450"/>
            <a:ext cx="2838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真实脚本执行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39150" y="2076450"/>
            <a:ext cx="2819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Harness 识别 glibc/musl 下的 basic、busybox、lua、libc-test、iozone、libcbench、lmbench、ltp 等脚本，并输出官方分组标记。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104900" y="3714750"/>
            <a:ext cx="8839200" cy="38100"/>
          </a:xfrm>
          <a:prstGeom prst="rect">
            <a:avLst/>
          </a:prstGeom>
          <a:solidFill>
            <a:srgbClr val="D6D6D6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椭圆 18"/>
          <p:cNvSpPr>
            <a:spLocks noGrp="1"/>
          </p:cNvSpPr>
          <p:nvPr/>
        </p:nvSpPr>
        <p:spPr>
          <a:xfrm>
            <a:off x="876300" y="3448050"/>
            <a:ext cx="685800" cy="685800"/>
          </a:xfrm>
          <a:prstGeom prst="ellipse">
            <a:avLst/>
          </a:prstGeom>
          <a:solidFill>
            <a:srgbClr val="F7F7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76300" y="36385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Boot</a:t>
            </a:r>
            <a:endParaRPr sz="1125" b="1">
              <a:solidFill>
                <a:srgbClr val="111111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47700" y="432435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polyhal 启动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22" name="椭圆 21"/>
          <p:cNvSpPr>
            <a:spLocks noGrp="1"/>
          </p:cNvSpPr>
          <p:nvPr/>
        </p:nvSpPr>
        <p:spPr>
          <a:xfrm>
            <a:off x="2686050" y="3448050"/>
            <a:ext cx="685800" cy="685800"/>
          </a:xfrm>
          <a:prstGeom prst="ellipse">
            <a:avLst/>
          </a:prstGeom>
          <a:solidFill>
            <a:srgbClr val="F7F7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2686050" y="36385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Mount</a:t>
            </a:r>
            <a:endParaRPr sz="1125" b="1">
              <a:solidFill>
                <a:srgbClr val="111111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457450" y="432435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VirtIO/ext4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4495800" y="3448050"/>
            <a:ext cx="685800" cy="685800"/>
          </a:xfrm>
          <a:prstGeom prst="ellipse">
            <a:avLst/>
          </a:prstGeom>
          <a:solidFill>
            <a:srgbClr val="F7F7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495800" y="36385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Scan</a:t>
            </a:r>
            <a:endParaRPr sz="1125" b="1">
              <a:solidFill>
                <a:srgbClr val="111111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4267200" y="432435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发现 24 个脚本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28" name="椭圆 27"/>
          <p:cNvSpPr>
            <a:spLocks noGrp="1"/>
          </p:cNvSpPr>
          <p:nvPr/>
        </p:nvSpPr>
        <p:spPr>
          <a:xfrm>
            <a:off x="6305550" y="3448050"/>
            <a:ext cx="685800" cy="685800"/>
          </a:xfrm>
          <a:prstGeom prst="ellipse">
            <a:avLst/>
          </a:prstGeom>
          <a:solidFill>
            <a:srgbClr val="F7F7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305550" y="36385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Run</a:t>
            </a:r>
            <a:endParaRPr sz="1125" b="1">
              <a:solidFill>
                <a:srgbClr val="111111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076950" y="432435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前台串行执行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31" name="椭圆 30"/>
          <p:cNvSpPr>
            <a:spLocks noGrp="1"/>
          </p:cNvSpPr>
          <p:nvPr/>
        </p:nvSpPr>
        <p:spPr>
          <a:xfrm>
            <a:off x="8115300" y="3448050"/>
            <a:ext cx="685800" cy="685800"/>
          </a:xfrm>
          <a:prstGeom prst="ellipse">
            <a:avLst/>
          </a:prstGeom>
          <a:solidFill>
            <a:srgbClr val="F7F7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8115300" y="36385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Judge</a:t>
            </a:r>
            <a:endParaRPr sz="1125" b="1">
              <a:solidFill>
                <a:srgbClr val="111111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886700" y="432435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串口日志解析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34" name="椭圆 33"/>
          <p:cNvSpPr>
            <a:spLocks noGrp="1"/>
          </p:cNvSpPr>
          <p:nvPr/>
        </p:nvSpPr>
        <p:spPr>
          <a:xfrm>
            <a:off x="9925050" y="3448050"/>
            <a:ext cx="685800" cy="685800"/>
          </a:xfrm>
          <a:prstGeom prst="ellipse">
            <a:avLst/>
          </a:prstGeom>
          <a:solidFill>
            <a:srgbClr val="F7F7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9925050" y="3638550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Poweroff</a:t>
            </a:r>
            <a:endParaRPr sz="1125" b="1">
              <a:solidFill>
                <a:srgbClr val="111111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696450" y="432435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主动关机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95350" y="5219700"/>
            <a:ext cx="9810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证据示例：os_serial_out_rv.txt 中记录 total files found=6368、脚本发现、OS COMP TEST GROUP START/END，以及最终 shutdown。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04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2095500"/>
            <a:ext cx="857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3600" b="1">
                <a:solidFill>
                  <a:srgbClr val="172033"/>
                </a:solidFill>
              </a:defRPr>
            </a:pPr>
            <a:r>
              <a:rPr sz="3600" b="1">
                <a:solidFill>
                  <a:srgbClr val="172033"/>
                </a:solidFill>
              </a:rPr>
              <a:t>总体架构设计</a:t>
            </a:r>
            <a:endParaRPr sz="3600" b="1">
              <a:solidFill>
                <a:srgbClr val="17203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95350" y="2952750"/>
            <a:ext cx="828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4A4A4A"/>
                </a:solidFill>
              </a:defRPr>
            </a:pPr>
            <a:r>
              <a:rPr sz="1650" b="0">
                <a:solidFill>
                  <a:srgbClr val="4A4A4A"/>
                </a:solidFill>
              </a:rPr>
              <a:t>分层、可替换、以 Linux 兼容子集为验收单位</a:t>
            </a:r>
            <a:endParaRPr sz="1650" b="0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9144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HAL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1717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1717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VFS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4290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4290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Task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6863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6863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MM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9436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9436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Syscall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34450" y="59626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wll_OS 初赛汇报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05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wll_OS 内核架构图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Rust 内核 · RISC-V64 / LoongArch64 双架构 · 面向真实评测路径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04850" y="1409700"/>
            <a:ext cx="817245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52500" y="16002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用户态与测试入口</a:t>
            </a:r>
            <a:endParaRPr sz="1575" b="1">
              <a:solidFill>
                <a:srgbClr val="111111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914650" y="1581150"/>
            <a:ext cx="1314450" cy="3429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990850" y="1676400"/>
            <a:ext cx="1162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72033"/>
                </a:solidFill>
              </a:defRPr>
            </a:pPr>
            <a:r>
              <a:rPr sz="975" b="0">
                <a:solidFill>
                  <a:srgbClr val="172033"/>
                </a:solidFill>
              </a:rPr>
              <a:t>libc / BusyBox</a:t>
            </a:r>
            <a:endParaRPr sz="975" b="0">
              <a:solidFill>
                <a:srgbClr val="172033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343400" y="1581150"/>
            <a:ext cx="1314450" cy="3429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419600" y="1676400"/>
            <a:ext cx="1162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72033"/>
                </a:solidFill>
              </a:defRPr>
            </a:pPr>
            <a:r>
              <a:rPr sz="975" b="0">
                <a:solidFill>
                  <a:srgbClr val="172033"/>
                </a:solidFill>
              </a:rPr>
              <a:t>benchmark / LTP slice</a:t>
            </a:r>
            <a:endParaRPr sz="975" b="0">
              <a:solidFill>
                <a:srgbClr val="17203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5772150" y="1581150"/>
            <a:ext cx="1314450" cy="3429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848350" y="1676400"/>
            <a:ext cx="1162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72033"/>
                </a:solidFill>
              </a:defRPr>
            </a:pPr>
            <a:r>
              <a:rPr sz="975" b="0">
                <a:solidFill>
                  <a:srgbClr val="172033"/>
                </a:solidFill>
              </a:rPr>
              <a:t>init / shell / harness</a:t>
            </a:r>
            <a:endParaRPr sz="975" b="0">
              <a:solidFill>
                <a:srgbClr val="172033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200900" y="1581150"/>
            <a:ext cx="1314450" cy="3429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277100" y="1676400"/>
            <a:ext cx="1162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72033"/>
                </a:solidFill>
              </a:defRPr>
            </a:pPr>
            <a:r>
              <a:rPr sz="975" b="0">
                <a:solidFill>
                  <a:srgbClr val="172033"/>
                </a:solidFill>
              </a:rPr>
              <a:t>Linux ABI 子集</a:t>
            </a:r>
            <a:endParaRPr sz="975" b="0">
              <a:solidFill>
                <a:srgbClr val="17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572000" y="21336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↓</a:t>
            </a:r>
            <a:endParaRPr sz="2025" b="1">
              <a:solidFill>
                <a:srgbClr val="172033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04850" y="2457450"/>
            <a:ext cx="817245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52500" y="2686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wll_OS Kernel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2400300" y="27241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系统调用、任务、内存、文件系统与驱动协同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990600" y="3105150"/>
            <a:ext cx="7600950" cy="514350"/>
          </a:xfrm>
          <a:prstGeom prst="roundRect">
            <a:avLst>
              <a:gd name="adj" fmla="val 7407"/>
            </a:avLst>
          </a:prstGeom>
          <a:solidFill>
            <a:srgbClr val="F7F7F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219200" y="3228975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系统调用层 syscall/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333750" y="3267075"/>
            <a:ext cx="4400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A4A4A"/>
                </a:solidFill>
              </a:defRPr>
            </a:pPr>
            <a:r>
              <a:rPr sz="1200" b="0">
                <a:solidFill>
                  <a:srgbClr val="4A4A4A"/>
                </a:solidFill>
              </a:rPr>
              <a:t>process · fs · mm · signal · net · user · time/misc</a:t>
            </a:r>
            <a:endParaRPr sz="1200" b="0">
              <a:solidFill>
                <a:srgbClr val="4A4A4A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572000" y="36385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↓</a:t>
            </a:r>
            <a:endParaRPr sz="1875" b="1">
              <a:solidFill>
                <a:srgbClr val="172033"/>
              </a:solidFill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990600" y="3924300"/>
            <a:ext cx="22288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181100" y="4095750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任务与调度 task/</a:t>
            </a:r>
            <a:endParaRPr sz="1425" b="1">
              <a:solidFill>
                <a:srgbClr val="111111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181100" y="4400550"/>
            <a:ext cx="1847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TCB / 线程组 / PID</a:t>
            </a:r>
            <a:endParaRPr sz="1050" b="0">
              <a:solidFill>
                <a:srgbClr val="4A4A4A"/>
              </a:solidFill>
            </a:endParaRPr>
          </a:p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wait queue / timer</a:t>
            </a:r>
            <a:endParaRPr sz="1050" b="0">
              <a:solidFill>
                <a:srgbClr val="4A4A4A"/>
              </a:solidFill>
            </a:endParaRPr>
          </a:p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signal / futex wait path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3676650" y="3924300"/>
            <a:ext cx="22288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867150" y="4095750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内存管理 mm/</a:t>
            </a:r>
            <a:endParaRPr sz="1425" b="1">
              <a:solidFill>
                <a:srgbClr val="111111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3867150" y="4400550"/>
            <a:ext cx="1847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页表 / 物理页分配 / heap</a:t>
            </a:r>
            <a:endParaRPr sz="1050" b="0">
              <a:solidFill>
                <a:srgbClr val="4A4A4A"/>
              </a:solidFill>
            </a:endParaRPr>
          </a:p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地址空间 / VMA / ELF loader</a:t>
            </a:r>
            <a:endParaRPr sz="1050" b="0">
              <a:solidFill>
                <a:srgbClr val="4A4A4A"/>
              </a:solidFill>
            </a:endParaRPr>
          </a:p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brk / mmap / shm / mprotect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6362700" y="3924300"/>
            <a:ext cx="22288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553200" y="4095750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文件系统 fs/</a:t>
            </a:r>
            <a:endParaRPr sz="1425" b="1">
              <a:solidFill>
                <a:srgbClr val="111111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553200" y="4400550"/>
            <a:ext cx="1847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VFS / FD table / MemFS</a:t>
            </a:r>
            <a:endParaRPr sz="1050" b="0">
              <a:solidFill>
                <a:srgbClr val="4A4A4A"/>
              </a:solidFill>
            </a:endParaRPr>
          </a:p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ext4 runtime volume / VFAT</a:t>
            </a:r>
            <a:endParaRPr sz="1050" b="0">
              <a:solidFill>
                <a:srgbClr val="4A4A4A"/>
              </a:solidFill>
            </a:endParaRPr>
          </a:p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pipe / socket / pseudo device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3276600" y="4343400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→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962650" y="4343400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→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990600" y="5086350"/>
            <a:ext cx="2228850" cy="3238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1066800" y="5162550"/>
            <a:ext cx="2076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72033"/>
                </a:solidFill>
              </a:defRPr>
            </a:pPr>
            <a:r>
              <a:rPr sz="975" b="0">
                <a:solidFill>
                  <a:srgbClr val="172033"/>
                </a:solidFill>
              </a:rPr>
              <a:t>Trap / interrupt / exception</a:t>
            </a:r>
            <a:endParaRPr sz="975" b="0">
              <a:solidFill>
                <a:srgbClr val="172033"/>
              </a:solidFill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3676650" y="5086350"/>
            <a:ext cx="2228850" cy="3238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3752850" y="5162550"/>
            <a:ext cx="2076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72033"/>
                </a:solidFill>
              </a:defRPr>
            </a:pPr>
            <a:r>
              <a:rPr sz="975" b="0">
                <a:solidFill>
                  <a:srgbClr val="172033"/>
                </a:solidFill>
              </a:rPr>
              <a:t>HAL: polyhal + arch config</a:t>
            </a:r>
            <a:endParaRPr sz="975" b="0">
              <a:solidFill>
                <a:srgbClr val="172033"/>
              </a:solidFill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6362700" y="5086350"/>
            <a:ext cx="2228850" cy="3238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438900" y="5162550"/>
            <a:ext cx="2076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72033"/>
                </a:solidFill>
              </a:defRPr>
            </a:pPr>
            <a:r>
              <a:rPr sz="975" b="0">
                <a:solidFill>
                  <a:srgbClr val="172033"/>
                </a:solidFill>
              </a:rPr>
              <a:t>Drivers: VirtIO MMIO / PCI Block</a:t>
            </a:r>
            <a:endParaRPr sz="975" b="0">
              <a:solidFill>
                <a:srgbClr val="172033"/>
              </a:solidFill>
            </a:endParaRPr>
          </a:p>
        </p:txBody>
      </p:sp>
      <p:sp>
        <p:nvSpPr>
          <p:cNvPr id="41" name="圆角矩形 40"/>
          <p:cNvSpPr>
            <a:spLocks noGrp="1"/>
          </p:cNvSpPr>
          <p:nvPr/>
        </p:nvSpPr>
        <p:spPr>
          <a:xfrm>
            <a:off x="704850" y="5581650"/>
            <a:ext cx="81724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952500" y="571500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运行平台与外部设备</a:t>
            </a:r>
            <a:endParaRPr sz="1575" b="1">
              <a:solidFill>
                <a:srgbClr val="111111"/>
              </a:solidFill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952500" y="5981700"/>
            <a:ext cx="7600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72033"/>
                </a:solidFill>
              </a:defRPr>
            </a:pPr>
            <a:r>
              <a:rPr sz="900" b="1">
                <a:solidFill>
                  <a:srgbClr val="172033"/>
                </a:solidFill>
              </a:rPr>
              <a:t>QEMU virt · riscv64gc-unknown-none-elf / loongarch64-unknown-none · VirtIO blk/net · sdcard-rv.img / sdcard-la.img</a:t>
            </a:r>
            <a:endParaRPr sz="900" b="1">
              <a:solidFill>
                <a:srgbClr val="172033"/>
              </a:solidFill>
            </a:endParaRPr>
          </a:p>
        </p:txBody>
      </p:sp>
      <p:sp>
        <p:nvSpPr>
          <p:cNvPr id="44" name="圆角矩形 43"/>
          <p:cNvSpPr>
            <a:spLocks noGrp="1"/>
          </p:cNvSpPr>
          <p:nvPr/>
        </p:nvSpPr>
        <p:spPr>
          <a:xfrm>
            <a:off x="9258300" y="1409700"/>
            <a:ext cx="2228850" cy="4800600"/>
          </a:xfrm>
          <a:prstGeom prst="roundRect">
            <a:avLst>
              <a:gd name="adj" fmla="val 3419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9525000" y="16383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评测证据链</a:t>
            </a:r>
            <a:endParaRPr sz="1650" b="1">
              <a:solidFill>
                <a:srgbClr val="111111"/>
              </a:solidFill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9525000" y="1943100"/>
            <a:ext cx="1695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以真实串口日志和 parser 输出为准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47" name="圆角矩形 46"/>
          <p:cNvSpPr>
            <a:spLocks noGrp="1"/>
          </p:cNvSpPr>
          <p:nvPr/>
        </p:nvSpPr>
        <p:spPr>
          <a:xfrm>
            <a:off x="9620250" y="2533650"/>
            <a:ext cx="152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9810750" y="26098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构建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9810750" y="2847975"/>
            <a:ext cx="1143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Makefile / fixed Rust toolchain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10182225" y="31051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↓</a:t>
            </a:r>
            <a:endParaRPr sz="1575" b="1">
              <a:solidFill>
                <a:srgbClr val="172033"/>
              </a:solidFill>
            </a:endParaRPr>
          </a:p>
        </p:txBody>
      </p:sp>
      <p:sp>
        <p:nvSpPr>
          <p:cNvPr id="51" name="圆角矩形 50"/>
          <p:cNvSpPr>
            <a:spLocks noGrp="1"/>
          </p:cNvSpPr>
          <p:nvPr/>
        </p:nvSpPr>
        <p:spPr>
          <a:xfrm>
            <a:off x="9620250" y="3276600"/>
            <a:ext cx="152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9810750" y="3352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运行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9810750" y="3590925"/>
            <a:ext cx="1143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QEMU serial.log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10182225" y="38481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↓</a:t>
            </a:r>
            <a:endParaRPr sz="1575" b="1">
              <a:solidFill>
                <a:srgbClr val="172033"/>
              </a:solidFill>
            </a:endParaRPr>
          </a:p>
        </p:txBody>
      </p:sp>
      <p:sp>
        <p:nvSpPr>
          <p:cNvPr id="55" name="圆角矩形 54"/>
          <p:cNvSpPr>
            <a:spLocks noGrp="1"/>
          </p:cNvSpPr>
          <p:nvPr/>
        </p:nvSpPr>
        <p:spPr>
          <a:xfrm>
            <a:off x="9620250" y="4019550"/>
            <a:ext cx="152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9810750" y="40957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判定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9810750" y="4333875"/>
            <a:ext cx="1143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judge-summary.json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10182225" y="45910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↓</a:t>
            </a:r>
            <a:endParaRPr sz="1575" b="1">
              <a:solidFill>
                <a:srgbClr val="172033"/>
              </a:solidFill>
            </a:endParaRPr>
          </a:p>
        </p:txBody>
      </p:sp>
      <p:sp>
        <p:nvSpPr>
          <p:cNvPr id="59" name="圆角矩形 58"/>
          <p:cNvSpPr>
            <a:spLocks noGrp="1"/>
          </p:cNvSpPr>
          <p:nvPr/>
        </p:nvSpPr>
        <p:spPr>
          <a:xfrm>
            <a:off x="9620250" y="4762500"/>
            <a:ext cx="152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9810750" y="48387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归档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9810750" y="5076825"/>
            <a:ext cx="1143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results/&lt;timestamp&gt;/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62" name="矩形 61"/>
          <p:cNvSpPr>
            <a:spLocks noGrp="1"/>
          </p:cNvSpPr>
          <p:nvPr/>
        </p:nvSpPr>
        <p:spPr>
          <a:xfrm>
            <a:off x="8915400" y="3848100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→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63" name="圆角矩形 62"/>
          <p:cNvSpPr>
            <a:spLocks noGrp="1"/>
          </p:cNvSpPr>
          <p:nvPr/>
        </p:nvSpPr>
        <p:spPr>
          <a:xfrm>
            <a:off x="9620250" y="5467350"/>
            <a:ext cx="1524000" cy="5143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9810750" y="5572125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验证范围</a:t>
            </a:r>
            <a:endParaRPr sz="1275" b="1">
              <a:solidFill>
                <a:srgbClr val="111111"/>
              </a:solidFill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9810750" y="5781675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4A4A4A"/>
                </a:solidFill>
              </a:defRPr>
            </a:pPr>
            <a:r>
              <a:rPr sz="825" b="0">
                <a:solidFill>
                  <a:srgbClr val="4A4A4A"/>
                </a:solidFill>
              </a:rPr>
              <a:t>LTP slice</a:t>
            </a:r>
            <a:endParaRPr sz="825" b="0">
              <a:solidFill>
                <a:srgbClr val="4A4A4A"/>
              </a:solidFill>
            </a:endParaRPr>
          </a:p>
          <a:p>
            <a:pPr algn="l">
              <a:defRPr sz="825" b="0">
                <a:solidFill>
                  <a:srgbClr val="4A4A4A"/>
                </a:solidFill>
              </a:defRPr>
            </a:pPr>
            <a:r>
              <a:rPr sz="825" b="0">
                <a:solidFill>
                  <a:srgbClr val="4A4A4A"/>
                </a:solidFill>
              </a:rPr>
              <a:t>多 suite harness</a:t>
            </a:r>
            <a:endParaRPr sz="825" b="0">
              <a:solidFill>
                <a:srgbClr val="4A4A4A"/>
              </a:solidFill>
            </a:endParaRPr>
          </a:p>
        </p:txBody>
      </p:sp>
      <p:sp>
        <p:nvSpPr>
          <p:cNvPr id="66" name="矩形 65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06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解耦合的系统调用设计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按功能簇分发，避免在 trap 路径中堆叠细节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04850" y="1504950"/>
            <a:ext cx="2381250" cy="14478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04850" y="1504950"/>
            <a:ext cx="47625" cy="14478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914400" y="16764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fs.rs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14400" y="2057400"/>
            <a:ext cx="20383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openat / read / write / pipe2 / ppoll / pselect6 / statx / link / symlink / sync 等文件与 FD 语义。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390900" y="1504950"/>
            <a:ext cx="2381250" cy="14478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390900" y="1504950"/>
            <a:ext cx="47625" cy="14478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600450" y="16764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process.rs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600450" y="2057400"/>
            <a:ext cx="20383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clone / execve / wait4 / exit_group / sched_yield；线程组、父子关系与僵尸回收。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076950" y="1504950"/>
            <a:ext cx="2381250" cy="14478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076950" y="1504950"/>
            <a:ext cx="47625" cy="14478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286500" y="16764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mm.rs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286500" y="2057400"/>
            <a:ext cx="20383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brk / mmap / munmap / mprotect / msync / SysV shm；VMA 拆分、共享内存与文件映射。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8763000" y="1504950"/>
            <a:ext cx="2381250" cy="14478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0" y="1504950"/>
            <a:ext cx="47625" cy="14478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972550" y="16764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signal/net/other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972550" y="2057400"/>
            <a:ext cx="20383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rt_sig*、kill/tgkill、futex、rlimit、clock、socket loopback 等兼容子集。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1238250" y="3714750"/>
            <a:ext cx="9715500" cy="10477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485900" y="4000500"/>
            <a:ext cx="923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syscall(id, args)  →  match syscall_id  →  fs / process / mm / signal / net / other</a:t>
            </a:r>
            <a:endParaRPr sz="1800" b="1">
              <a:solidFill>
                <a:srgbClr val="17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028700" y="5353050"/>
            <a:ext cx="9620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设计收益：接口集中、实现分层、同类调用复用底层路径；新增 LTP case 时能按子系统逐步扩展，而不是扩散修改。</a:t>
            </a:r>
            <a:endParaRPr sz="1350" b="0">
              <a:solidFill>
                <a:srgbClr val="172033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07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2095500"/>
            <a:ext cx="857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3600" b="1">
                <a:solidFill>
                  <a:srgbClr val="172033"/>
                </a:solidFill>
              </a:defRPr>
            </a:pPr>
            <a:r>
              <a:rPr sz="3600" b="1">
                <a:solidFill>
                  <a:srgbClr val="172033"/>
                </a:solidFill>
              </a:rPr>
              <a:t>模块分析</a:t>
            </a:r>
            <a:endParaRPr sz="3600" b="1">
              <a:solidFill>
                <a:srgbClr val="17203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95350" y="2952750"/>
            <a:ext cx="828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4A4A4A"/>
                </a:solidFill>
              </a:defRPr>
            </a:pPr>
            <a:r>
              <a:rPr sz="1650" b="0">
                <a:solidFill>
                  <a:srgbClr val="4A4A4A"/>
                </a:solidFill>
              </a:rPr>
              <a:t>内存、任务、文件系统、信号、网络五个子系统的协作关系</a:t>
            </a:r>
            <a:endParaRPr sz="1650" b="0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9144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内存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1717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1717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任务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4290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4290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文件系统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6863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6863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信号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943600" y="3790950"/>
            <a:ext cx="1123950" cy="285750"/>
          </a:xfrm>
          <a:prstGeom prst="roundRect">
            <a:avLst>
              <a:gd name="adj" fmla="val 13333"/>
            </a:avLst>
          </a:prstGeom>
          <a:solidFill>
            <a:srgbClr val="F7F7F7"/>
          </a:solidFill>
          <a:ln w="9525">
            <a:solidFill>
              <a:srgbClr val="F7F7F7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943600" y="3838575"/>
            <a:ext cx="1123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网络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34450" y="59626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wll_OS 初赛汇报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08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五大模块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模块职责与评测压力对应关系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4686300" y="2724150"/>
            <a:ext cx="2190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4686300" y="297180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wll_OS Kernel</a:t>
            </a:r>
            <a:endParaRPr sz="1800" b="1">
              <a:solidFill>
                <a:srgbClr val="111111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953000" y="333375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syscall dispatcher</a:t>
            </a:r>
            <a:endParaRPr sz="1125" b="0">
              <a:solidFill>
                <a:srgbClr val="4A4A4A"/>
              </a:solidFill>
            </a:endParaRPr>
          </a:p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Linux ABI 子集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1162050" y="1581150"/>
            <a:ext cx="2190750" cy="9144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162050" y="177165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内存管理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333500" y="2114550"/>
            <a:ext cx="184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VMA / mmap / shm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476750" y="1504950"/>
            <a:ext cx="2190750" cy="9144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476750" y="169545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任务管理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648200" y="2038350"/>
            <a:ext cx="184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clone / wait / futex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772400" y="1581150"/>
            <a:ext cx="2190750" cy="9144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772400" y="177165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文件系统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943850" y="2114550"/>
            <a:ext cx="184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VFS / FD / ext4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2476500" y="4533900"/>
            <a:ext cx="2190750" cy="9144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2476500" y="472440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信号机制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647950" y="5067300"/>
            <a:ext cx="184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rt_sig* / SIGCHLD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6667500" y="4533900"/>
            <a:ext cx="2190750" cy="9144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667500" y="472440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网络设计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838950" y="5067300"/>
            <a:ext cx="184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socket fd / poll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3638550" y="2190750"/>
            <a:ext cx="552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↘</a:t>
            </a:r>
            <a:endParaRPr sz="2550" b="1">
              <a:solidFill>
                <a:srgbClr val="172033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581650" y="2305050"/>
            <a:ext cx="400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↓</a:t>
            </a:r>
            <a:endParaRPr sz="2250" b="1">
              <a:solidFill>
                <a:srgbClr val="172033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372350" y="2190750"/>
            <a:ext cx="552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↙</a:t>
            </a:r>
            <a:endParaRPr sz="2550" b="1">
              <a:solidFill>
                <a:srgbClr val="172033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3943350" y="4000500"/>
            <a:ext cx="552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↗</a:t>
            </a:r>
            <a:endParaRPr sz="2550" b="1">
              <a:solidFill>
                <a:srgbClr val="17203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029450" y="4000500"/>
            <a:ext cx="552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↖</a:t>
            </a:r>
            <a:endParaRPr sz="2550" b="1">
              <a:solidFill>
                <a:srgbClr val="172033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2000250" y="5715000"/>
            <a:ext cx="7658100" cy="361950"/>
          </a:xfrm>
          <a:prstGeom prst="roundRect">
            <a:avLst>
              <a:gd name="adj" fmla="val 10526"/>
            </a:avLst>
          </a:prstGeom>
          <a:solidFill>
            <a:srgbClr val="F7F7F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2000250" y="5810250"/>
            <a:ext cx="7658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模块映射到评测压力：libc allocator、fork/wait、path case、EINTR、poll/select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09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3.1 内存模块分析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地址映射、VMA 管理与高级内存语义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42950" y="1466850"/>
            <a:ext cx="33337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1466850"/>
            <a:ext cx="47625" cy="14287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952500" y="1638300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地址空间模型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52500" y="2019300"/>
            <a:ext cx="29908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每个用户任务拥有独立 MemorySet；内核空间共享，高地址映射内核与设备区，用户空间承载 ELF 段、堆、栈与 mmap 区域。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438650" y="1466850"/>
            <a:ext cx="33337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438650" y="1466850"/>
            <a:ext cx="47625" cy="14287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648200" y="1638300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VMA 与页表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48200" y="2019300"/>
            <a:ext cx="29908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mmap/munmap/mprotect 围绕 VMA 拆分、合并、权限更新展开；PROT_NONE 保留区可在授予权限时补页。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134350" y="1466850"/>
            <a:ext cx="33337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134350" y="1466850"/>
            <a:ext cx="47625" cy="14287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343900" y="1638300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评测支撑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019300"/>
            <a:ext cx="29908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brk 满足 libc allocator；匿名 mmap 支撑动态链接和线程栈；SysV shm 支撑 iozone 多进程吞吐场景。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1352550" y="3676650"/>
            <a:ext cx="8572500" cy="7429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581150" y="3905250"/>
            <a:ext cx="811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ELF / brk / mmap / shm  →  MemorySet + VMA  →  PageTable + FrameAllocator</a:t>
            </a:r>
            <a:endParaRPr sz="1650" b="1">
              <a:solidFill>
                <a:srgbClr val="172033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1695450" y="5067300"/>
            <a:ext cx="1714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695450" y="51625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brk</a:t>
            </a:r>
            <a:endParaRPr sz="1425" b="1">
              <a:solidFill>
                <a:srgbClr val="172033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809750" y="5391150"/>
            <a:ext cx="1485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heap growth / shrink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3790950" y="5067300"/>
            <a:ext cx="1714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790950" y="51625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mmap</a:t>
            </a:r>
            <a:endParaRPr sz="1425" b="1">
              <a:solidFill>
                <a:srgbClr val="172033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905250" y="5391150"/>
            <a:ext cx="1485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anonymous mapping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5886450" y="5067300"/>
            <a:ext cx="1714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886450" y="51625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mprotect</a:t>
            </a:r>
            <a:endParaRPr sz="1425" b="1">
              <a:solidFill>
                <a:srgbClr val="17203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000750" y="5391150"/>
            <a:ext cx="1485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VMA permission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7981950" y="5067300"/>
            <a:ext cx="1714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981950" y="51625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shm</a:t>
            </a:r>
            <a:endParaRPr sz="1425" b="1">
              <a:solidFill>
                <a:srgbClr val="17203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096250" y="5391150"/>
            <a:ext cx="1485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shared frames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10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3.2 任务模块分析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生命周期、阻塞唤醒与前台 harness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76300" y="1504950"/>
            <a:ext cx="3028950" cy="1657350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504950"/>
            <a:ext cx="47625" cy="16573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85850" y="16764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生命周期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85850" y="2057400"/>
            <a:ext cx="26860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clone 创建任务/线程；execve 替换地址空间；exit/exit_group 进入退出清理；wait4 负责父进程回收。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514850" y="1504950"/>
            <a:ext cx="3028950" cy="1657350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14850" y="1504950"/>
            <a:ext cx="47625" cy="16573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724400" y="16764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阻塞模型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724400" y="2057400"/>
            <a:ext cx="26860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child wait、IO wait、timer sleep、futex wait 统一进入 Blocked，并通过 wait token 防止过期唤醒。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153400" y="1504950"/>
            <a:ext cx="3028950" cy="1657350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153400" y="1504950"/>
            <a:ext cx="47625" cy="16573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362950" y="16764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前台执行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62950" y="2057400"/>
            <a:ext cx="26860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测试脚本在 foreground harness 中串行执行；阻塞任务仍走正常 wait queue、timer、signal、futex 路径。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1047750" y="4095750"/>
            <a:ext cx="1428750" cy="5143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047750" y="42386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Ready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533650" y="42291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→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2933700" y="4095750"/>
            <a:ext cx="1428750" cy="5143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933700" y="42386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Running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419600" y="42291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→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4819650" y="4095750"/>
            <a:ext cx="1428750" cy="5143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4819650" y="42386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Blocked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305550" y="42291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→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6705600" y="4095750"/>
            <a:ext cx="1428750" cy="5143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705600" y="42386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Ready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191500" y="422910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→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8591550" y="4095750"/>
            <a:ext cx="1428750" cy="5143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591550" y="42386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User Return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047750" y="5334000"/>
            <a:ext cx="9334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模块价值：让 basic 的 fork/wait/pipe/yield 与 libc 的 futex、signal interrupt 共享同一套调度事实。</a:t>
            </a:r>
            <a:endParaRPr sz="1350" b="1">
              <a:solidFill>
                <a:srgbClr val="172033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11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3.3 文件系统模块分析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VFS 抽象、运行时 ext4 与 fd 对象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1123950" y="1428750"/>
            <a:ext cx="9239250" cy="81915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409700" y="1714500"/>
            <a:ext cx="866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路径层 VFS  →  Dentry/元数据语义  →  FD 对象  →  ext4 / MemFS / pipe / socket / pseudo device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819150" y="2914650"/>
            <a:ext cx="323850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19150" y="2914650"/>
            <a:ext cx="47625" cy="16192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028700" y="308610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路径与元数据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28700" y="3467100"/>
            <a:ext cx="28956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openat、newfstatat、statx、access、readlinkat 与 rename 等统一进入 VFS，集中处理错误码和权限语义。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476750" y="2914650"/>
            <a:ext cx="323850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476750" y="2914650"/>
            <a:ext cx="47625" cy="16192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4686300" y="308610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FD 与 IPC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686300" y="3467100"/>
            <a:ext cx="28956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regular file、dir、console、pipe、socket、/dev/null、/dev/zero 都抽象为 fd-table 对象，复用 read/write/poll。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8134350" y="2914650"/>
            <a:ext cx="323850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134350" y="2914650"/>
            <a:ext cx="47625" cy="16192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343900" y="308610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运行时评测盘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343900" y="3467100"/>
            <a:ext cx="28956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默认依赖 VirtIO ext4 提供测试脚本与二进制；避免把测试内容预载进 kernel，结果更接近官方评测。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1657350" y="5295900"/>
            <a:ext cx="8096250" cy="45720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657350" y="5429250"/>
            <a:ext cx="809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访问路径：用户 syscall → VFS path lookup → fd-table → ext4 / MemFS / pipe / socket</a:t>
            </a:r>
            <a:endParaRPr sz="1350" b="1">
              <a:solidFill>
                <a:srgbClr val="172033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12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3.4 信号模块分析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发送、屏蔽、等待与返回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23900" y="1809750"/>
            <a:ext cx="1809750" cy="11049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20193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发送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76300" y="2419350"/>
            <a:ext cx="150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kill / tkill / tgkill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SIGCHLD / SIGPIPE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590800" y="2228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→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2895600" y="1809750"/>
            <a:ext cx="1809750" cy="11049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895600" y="20193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入队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48000" y="2419350"/>
            <a:ext cx="150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按 TGID/TID 定位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pending bitset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762500" y="2228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→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067300" y="1809750"/>
            <a:ext cx="1809750" cy="11049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067300" y="20193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检查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219700" y="2419350"/>
            <a:ext cx="150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返回用户态前检查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blocked mask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934200" y="2228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→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7239000" y="1809750"/>
            <a:ext cx="1809750" cy="11049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239000" y="20193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处理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391400" y="2419350"/>
            <a:ext cx="150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默认动作或用户 handler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SA_RESTORER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105900" y="2228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→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9410700" y="1809750"/>
            <a:ext cx="1809750" cy="11049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9410700" y="20193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返回</a:t>
            </a:r>
            <a:endParaRPr sz="1500" b="1">
              <a:solidFill>
                <a:srgbClr val="17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563100" y="2419350"/>
            <a:ext cx="150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rt_sigreturn 恢复 trap frame</a:t>
            </a:r>
            <a:endParaRPr sz="1050" b="0">
              <a:solidFill>
                <a:srgbClr val="4A4A4A"/>
              </a:solidFill>
            </a:endParaRPr>
          </a:p>
          <a:p>
            <a:pPr algn="ctr">
              <a:defRPr sz="1050" b="0">
                <a:solidFill>
                  <a:srgbClr val="4A4A4A"/>
                </a:solidFill>
              </a:defRPr>
            </a:pPr>
            <a:r>
              <a:rPr sz="1050" b="0">
                <a:solidFill>
                  <a:srgbClr val="4A4A4A"/>
                </a:solidFill>
              </a:rPr>
              <a:t>恢复旧 mask</a:t>
            </a:r>
            <a:endParaRPr sz="1050" b="0">
              <a:solidFill>
                <a:srgbClr val="4A4A4A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1352550" y="3848100"/>
            <a:ext cx="40005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352550" y="3848100"/>
            <a:ext cx="47625" cy="12382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562100" y="4019550"/>
            <a:ext cx="3676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与任务模块协同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562100" y="4400550"/>
            <a:ext cx="36576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信号可以唤醒 blocked task；等待返回后检查可递送信号，并把 syscall 结果转换为 EINTR。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6286500" y="3848100"/>
            <a:ext cx="40005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286500" y="3848100"/>
            <a:ext cx="47625" cy="12382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496050" y="4019550"/>
            <a:ext cx="3676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典型触发场景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496050" y="4400550"/>
            <a:ext cx="36576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SIGCHLD 对应 wait 路径，SIGPIPE 对应 pipe 断端，rt_sigtimedwait 消费 child-exit 事件。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2095500" y="5581650"/>
            <a:ext cx="7239000" cy="40005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2095500" y="569595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核心链路：pending bitset → blocked mask → handler/default action → rt_sigreturn</a:t>
            </a:r>
            <a:endParaRPr sz="1275" b="1">
              <a:solidFill>
                <a:srgbClr val="172033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13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3.5 网络模块分析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socket fd、端点注册与 readiness 观测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19150" y="1524000"/>
            <a:ext cx="3238500" cy="150495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19150" y="1524000"/>
            <a:ext cx="47625" cy="15049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28700" y="16954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Socket 生命周期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28700" y="2076450"/>
            <a:ext cx="28956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socket 创建 fd；bind/listen/connect/accept 维护本地端点与 pending connection；accept4 支持 CLOEXEC/NONBLOCK。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476750" y="1524000"/>
            <a:ext cx="3238500" cy="150495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476750" y="1524000"/>
            <a:ext cx="47625" cy="15049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686300" y="16954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本地数据通路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86300" y="2076450"/>
            <a:ext cx="28956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stream 使用 peer byte queue；datagram 使用 bound receive queue；sendto/recvfrom/read/write 共用 fd 状态。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134350" y="1524000"/>
            <a:ext cx="3238500" cy="150495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134350" y="1524000"/>
            <a:ext cx="47625" cy="15049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343900" y="16954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可观测接口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43900" y="2076450"/>
            <a:ext cx="28956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poll/select、FIONBIO、FIONREAD、getsockname/getpeername、常见 socket options 提供兼容行为。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1314450" y="3981450"/>
            <a:ext cx="8782050" cy="723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524000" y="4210050"/>
            <a:ext cx="8362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socket fd  →  local endpoint registry  →  stream/datagram queue  →  poll/select readiness</a:t>
            </a:r>
            <a:endParaRPr sz="1575" b="1">
              <a:solidFill>
                <a:srgbClr val="172033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1695450" y="5314950"/>
            <a:ext cx="1676400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695450" y="541020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create</a:t>
            </a:r>
            <a:endParaRPr sz="1350" b="1">
              <a:solidFill>
                <a:srgbClr val="172033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695450" y="5638800"/>
            <a:ext cx="16764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socket fd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3771900" y="5314950"/>
            <a:ext cx="1676400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771900" y="541020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bind/listen</a:t>
            </a:r>
            <a:endParaRPr sz="1350" b="1">
              <a:solidFill>
                <a:srgbClr val="172033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771900" y="5638800"/>
            <a:ext cx="16764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endpoint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5848350" y="5314950"/>
            <a:ext cx="1676400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848350" y="541020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connect</a:t>
            </a:r>
            <a:endParaRPr sz="1350" b="1">
              <a:solidFill>
                <a:srgbClr val="17203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5848350" y="5638800"/>
            <a:ext cx="16764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peer link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7924800" y="5314950"/>
            <a:ext cx="1676400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924800" y="541020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readiness</a:t>
            </a:r>
            <a:endParaRPr sz="1350" b="1">
              <a:solidFill>
                <a:srgbClr val="17203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7924800" y="5638800"/>
            <a:ext cx="16764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4A4A4A"/>
                </a:solidFill>
              </a:defRPr>
            </a:pPr>
            <a:r>
              <a:rPr sz="900" b="0">
                <a:solidFill>
                  <a:srgbClr val="4A4A4A"/>
                </a:solidFill>
              </a:rPr>
              <a:t>poll/select</a:t>
            </a:r>
            <a:endParaRPr sz="900" b="0">
              <a:solidFill>
                <a:srgbClr val="4A4A4A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14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关键代码实现：syscall 分发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os/src/syscall/mod.rs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04850" y="1428750"/>
            <a:ext cx="6553200" cy="4305300"/>
          </a:xfrm>
          <a:prstGeom prst="roundRect">
            <a:avLst>
              <a:gd name="adj" fmla="val 1770"/>
            </a:avLst>
          </a:prstGeom>
          <a:solidFill>
            <a:srgbClr val="FBFBFB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90600" y="1752600"/>
            <a:ext cx="5981700" cy="3600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pub fn syscall(syscall_id: usize, args: [usize; 6]) -&gt; SyscallRet {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match syscall_id {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SYSCALL_OPENAT =&gt; fs::sys_openat(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    args[0] as isize, args[1] as *const u8, args[2] as u32, args[3] as u32),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SYSCALL_READ  =&gt; fs::sys_read(args[0], args[1] as *mut u8, args[2]),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SYSCALL_SOCKET =&gt; net::sys_socket(args[0], args[1], args[2]),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SYSCALL_CLONE =&gt; process::sys_clone(args[0], args[1], args[2], args[3], args[4]),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SYSCALL_MMAP  =&gt; mm::sys_mmap(args[0], args[1], args[2] as i32,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                              args[3] as i32, args[4] as i32, args[5]),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// ... fs / process / mm / signal / net / other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}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}</a:t>
            </a:r>
            <a:endParaRPr sz="1125" b="0">
              <a:solidFill>
                <a:srgbClr val="172033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734300" y="1562100"/>
            <a:ext cx="32385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734300" y="1562100"/>
            <a:ext cx="47625" cy="12001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943850" y="17335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体现的设计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43850" y="2114550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系统调用入口只负责 ABI 解码与分发，具体语义落到 fs、process、mm、signal、net 等模块。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734300" y="3048000"/>
            <a:ext cx="323850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734300" y="3048000"/>
            <a:ext cx="47625" cy="106680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943850" y="32194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对应 PPT 模块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943850" y="3600450"/>
            <a:ext cx="2895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第 6 页架构图中的 syscall dispatcher；第 7 页的功能簇分发。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7772400" y="4610100"/>
            <a:ext cx="31242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962900" y="4819650"/>
            <a:ext cx="2743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syscall id → module handler → Linux ABI 子集</a:t>
            </a:r>
            <a:endParaRPr sz="1275" b="1">
              <a:solidFill>
                <a:srgbClr val="172033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15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关键代码实现：阻塞与唤醒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os/src/task/wait_queue.rs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04850" y="1428750"/>
            <a:ext cx="6553200" cy="4305300"/>
          </a:xfrm>
          <a:prstGeom prst="roundRect">
            <a:avLst>
              <a:gd name="adj" fmla="val 1770"/>
            </a:avLst>
          </a:prstGeom>
          <a:solidFill>
            <a:srgbClr val="FBFBFB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90600" y="1752600"/>
            <a:ext cx="5981700" cy="3600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let token = task.next_wait_token();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*task.wait_outcome.lock() = None;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*task.block_reason.lock() = Some(self.reason);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self.waiters.lock().push_back(WaitEntry { task: task.clone(), token, key });</a:t>
            </a:r>
            <a:endParaRPr sz="1125" b="0">
              <a:solidFill>
                <a:srgbClr val="172033"/>
              </a:solidFill>
            </a:endParaRPr>
          </a:p>
          <a:p>
            <a:endParaRPr sz="1125"/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if crate::syscall::signal::current_has_unblocked_pending() {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self.remove_waiter(task.pid.0, token);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return Err(SysErrNo::EINTR);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}</a:t>
            </a:r>
            <a:endParaRPr sz="1125" b="0">
              <a:solidFill>
                <a:srgbClr val="172033"/>
              </a:solidFill>
            </a:endParaRPr>
          </a:p>
          <a:p>
            <a:endParaRPr sz="1125"/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block_current_for(self.reason, deadline_us);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match finish_wait(&amp;task, still_waiting, deadline_us) {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WaitOutcome::Interrupted =&gt; Err(SysErrNo::EINTR),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outcome =&gt; Ok(outcome),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}</a:t>
            </a:r>
            <a:endParaRPr sz="1125" b="0">
              <a:solidFill>
                <a:srgbClr val="172033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734300" y="1562100"/>
            <a:ext cx="32385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734300" y="1562100"/>
            <a:ext cx="47625" cy="12001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943850" y="17335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体现的设计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43850" y="2114550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等待队列用 wait token 区分每次阻塞，避免过期唤醒；信号到达时直接转为 EINTR。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734300" y="3048000"/>
            <a:ext cx="32385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734300" y="3048000"/>
            <a:ext cx="47625" cy="12001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943850" y="32194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支撑的场景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943850" y="3600450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wait4、pipe、timer sleep、futex wait、rt_sigsuspend 都复用同一套 Blocked/Ready 事实。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7810500" y="4762500"/>
            <a:ext cx="3048000" cy="5143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943850" y="4924425"/>
            <a:ext cx="2781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72033"/>
                </a:solidFill>
              </a:defRPr>
            </a:pPr>
            <a:r>
              <a:rPr sz="1125" b="1">
                <a:solidFill>
                  <a:srgbClr val="172033"/>
                </a:solidFill>
              </a:rPr>
              <a:t>Ready → Blocked(wait token) → Woken / EINTR / Timeout</a:t>
            </a:r>
            <a:endParaRPr sz="1125" b="1">
              <a:solidFill>
                <a:srgbClr val="172033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16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关键代码实现：运行时测试发现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os/src/task/harness.rs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04850" y="1428750"/>
            <a:ext cx="6553200" cy="4305300"/>
          </a:xfrm>
          <a:prstGeom prst="roundRect">
            <a:avLst>
              <a:gd name="adj" fmla="val 1770"/>
            </a:avLst>
          </a:prstGeom>
          <a:solidFill>
            <a:srgbClr val="FBFBFB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90600" y="1752600"/>
            <a:ext cx="5981700" cy="3600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fn discover_script_paths() -&gt; Vec&lt;String&gt; {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let scripts: Vec&lt;String&gt; = crate::fs::ext4_vol::ext4_list_all_file_paths()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.into_iter()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.filter(|path| is_testcode_script(path))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.collect();</a:t>
            </a:r>
            <a:endParaRPr sz="1125" b="0">
              <a:solidFill>
                <a:srgbClr val="172033"/>
              </a:solidFill>
            </a:endParaRPr>
          </a:p>
          <a:p>
            <a:endParaRPr sz="1125"/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#[cfg(feature = "dev-preload")]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if scripts.is_empty() {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return crate::fs::list_files().into_iter()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        .filter(|path| is_testcode_script(path)).collect();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}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    scripts</a:t>
            </a:r>
            <a:endParaRPr sz="1125" b="0">
              <a:solidFill>
                <a:srgbClr val="172033"/>
              </a:solidFill>
            </a:endParaRPr>
          </a:p>
          <a:p>
            <a:pPr algn="l">
              <a:defRPr sz="1125" b="0">
                <a:solidFill>
                  <a:srgbClr val="172033"/>
                </a:solidFill>
              </a:defRPr>
            </a:pPr>
            <a:r>
              <a:rPr sz="1125" b="0">
                <a:solidFill>
                  <a:srgbClr val="172033"/>
                </a:solidFill>
              </a:rPr>
              <a:t>}</a:t>
            </a:r>
            <a:endParaRPr sz="1125" b="0">
              <a:solidFill>
                <a:srgbClr val="172033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734300" y="1562100"/>
            <a:ext cx="32385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734300" y="1562100"/>
            <a:ext cx="47625" cy="12001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943850" y="17335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体现的设计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43850" y="2114550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测试脚本来自运行时 ext4 文件系统，默认不依赖把测试内容预塞进内核镜像。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734300" y="3048000"/>
            <a:ext cx="32385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734300" y="3048000"/>
            <a:ext cx="47625" cy="12001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943850" y="32194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验证链路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943850" y="3600450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ext4_list_all_file_paths → *_testcode.sh 过滤 → suite 排序 → harness 串行运行。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7810500" y="4762500"/>
            <a:ext cx="3048000" cy="5143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962900" y="49244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72033"/>
                </a:solidFill>
              </a:defRPr>
            </a:pPr>
            <a:r>
              <a:rPr sz="1125" b="1">
                <a:solidFill>
                  <a:srgbClr val="172033"/>
                </a:solidFill>
              </a:rPr>
              <a:t>sdcard ext4 → script scan → harness → serial.log</a:t>
            </a:r>
            <a:endParaRPr sz="1125" b="1">
              <a:solidFill>
                <a:srgbClr val="172033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17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信号与网络模块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异步事件与 socket fd 的系统调用路径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19150" y="1504950"/>
            <a:ext cx="4857750" cy="333375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62050" y="18097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信号处理</a:t>
            </a:r>
            <a:endParaRPr sz="1800" b="1">
              <a:solidFill>
                <a:srgbClr val="111111"/>
              </a:solidFill>
            </a:endParaRPr>
          </a:p>
        </p:txBody>
      </p:sp>
      <p:sp>
        <p:nvSpPr>
          <p:cNvPr id="8" name="椭圆 7"/>
          <p:cNvSpPr>
            <a:spLocks noGrp="1"/>
          </p:cNvSpPr>
          <p:nvPr/>
        </p:nvSpPr>
        <p:spPr>
          <a:xfrm>
            <a:off x="1181100" y="2457450"/>
            <a:ext cx="66675" cy="66675"/>
          </a:xfrm>
          <a:prstGeom prst="ellipse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371600" y="23812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rt_sigaction / rt_sigprocmask 保存 handler、flags、blocked mask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1181100" y="2914650"/>
            <a:ext cx="66675" cy="66675"/>
          </a:xfrm>
          <a:prstGeom prst="ellipse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371600" y="28384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rt_sigsuspend / rt_sigtimedwait 进入真实等待路径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1181100" y="3371850"/>
            <a:ext cx="66675" cy="66675"/>
          </a:xfrm>
          <a:prstGeom prst="ellipse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371600" y="32956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kill / tkill / tgkill 支持 TGID/TID 定位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1181100" y="3829050"/>
            <a:ext cx="66675" cy="66675"/>
          </a:xfrm>
          <a:prstGeom prst="ellipse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371600" y="37528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SIGCHLD 与 SIGPIPE 支撑 wait 与 pipe 语义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6438900" y="1504950"/>
            <a:ext cx="4857750" cy="3333750"/>
          </a:xfrm>
          <a:prstGeom prst="roundRect">
            <a:avLst>
              <a:gd name="adj" fmla="val 2286"/>
            </a:avLst>
          </a:prstGeom>
          <a:solidFill>
            <a:srgbClr val="FBFBFB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781800" y="18097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网络 fd 子集</a:t>
            </a:r>
            <a:endParaRPr sz="1800" b="1">
              <a:solidFill>
                <a:srgbClr val="111111"/>
              </a:solidFill>
            </a:endParaRP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6800850" y="2457450"/>
            <a:ext cx="66675" cy="66675"/>
          </a:xfrm>
          <a:prstGeom prst="ellipse">
            <a:avLst/>
          </a:prstGeom>
          <a:solidFill>
            <a:srgbClr val="172033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991350" y="23812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socket / bind / listen / connect / accept 进入 fd-table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20" name="椭圆 19"/>
          <p:cNvSpPr>
            <a:spLocks noGrp="1"/>
          </p:cNvSpPr>
          <p:nvPr/>
        </p:nvSpPr>
        <p:spPr>
          <a:xfrm>
            <a:off x="6800850" y="2914650"/>
            <a:ext cx="66675" cy="66675"/>
          </a:xfrm>
          <a:prstGeom prst="ellipse">
            <a:avLst/>
          </a:prstGeom>
          <a:solidFill>
            <a:srgbClr val="172033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991350" y="28384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本地 loopback stream 与 datagram 队列可收发 payload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22" name="椭圆 21"/>
          <p:cNvSpPr>
            <a:spLocks noGrp="1"/>
          </p:cNvSpPr>
          <p:nvPr/>
        </p:nvSpPr>
        <p:spPr>
          <a:xfrm>
            <a:off x="6800850" y="3371850"/>
            <a:ext cx="66675" cy="66675"/>
          </a:xfrm>
          <a:prstGeom prst="ellipse">
            <a:avLst/>
          </a:prstGeom>
          <a:solidFill>
            <a:srgbClr val="172033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991350" y="32956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poll/select 感知 pending accept、receive bytes、shutdown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24" name="椭圆 23"/>
          <p:cNvSpPr>
            <a:spLocks noGrp="1"/>
          </p:cNvSpPr>
          <p:nvPr/>
        </p:nvSpPr>
        <p:spPr>
          <a:xfrm>
            <a:off x="6800850" y="3829050"/>
            <a:ext cx="66675" cy="66675"/>
          </a:xfrm>
          <a:prstGeom prst="ellipse">
            <a:avLst/>
          </a:prstGeom>
          <a:solidFill>
            <a:srgbClr val="172033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991350" y="37528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getsockname / getpeername / FIONREAD 提供观测接口</a:t>
            </a:r>
            <a:endParaRPr sz="1275" b="0">
              <a:solidFill>
                <a:srgbClr val="172033"/>
              </a:solidFill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2266950" y="5314950"/>
            <a:ext cx="7105650" cy="4572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2266950" y="5448300"/>
            <a:ext cx="7105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共享机制：fd-table、wait queue、EINTR、poll readiness、用户态返回检查</a:t>
            </a:r>
            <a:endParaRPr sz="1350" b="1">
              <a:solidFill>
                <a:srgbClr val="17203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18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测试验证矩阵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以串口日志、judge parser 与仓库结果文件为准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00100" y="1428750"/>
            <a:ext cx="10001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160020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basic</a:t>
            </a:r>
            <a:endParaRPr sz="1350" b="1">
              <a:solidFill>
                <a:srgbClr val="111111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895600" y="16002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Pass-oriented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857750" y="158115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clone / wait4 / pipe2 / brk / mmap / stat/open 等真实或部分实现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800100" y="2209800"/>
            <a:ext cx="10001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066800" y="23812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busybox / lua</a:t>
            </a:r>
            <a:endParaRPr sz="1350" b="1">
              <a:solidFill>
                <a:srgbClr val="111111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895600" y="23812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Mostly usable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857750" y="236220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Shell、文件路径、mmap/brk、time、futex 等支撑常用脚本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00100" y="2990850"/>
            <a:ext cx="10001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066800" y="316230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libc-test</a:t>
            </a:r>
            <a:endParaRPr sz="1350" b="1">
              <a:solidFill>
                <a:srgbClr val="111111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95600" y="31623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score-complete path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857750" y="314325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默认 musl staged collector；真实 runtest 输出，非 kernel 伪造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800100" y="3771900"/>
            <a:ext cx="10001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066800" y="39433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iozone / libcbench / lmbench</a:t>
            </a:r>
            <a:endParaRPr sz="1350" b="1">
              <a:solidFill>
                <a:srgbClr val="111111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895600" y="39433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benchmark tail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857750" y="392430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ext4 cache、SysV shm、pipe/fd 性能仍是优化重点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800100" y="4552950"/>
            <a:ext cx="10001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066800" y="472440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LTP</a:t>
            </a:r>
            <a:endParaRPr sz="1350" b="1">
              <a:solidFill>
                <a:srgbClr val="111111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895600" y="47244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focused slice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857750" y="470535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21 个 credential / access / symlink 相关 case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1809750" y="5657850"/>
            <a:ext cx="8039100" cy="342900"/>
          </a:xfrm>
          <a:prstGeom prst="roundRect">
            <a:avLst>
              <a:gd name="adj" fmla="val 11111"/>
            </a:avLst>
          </a:prstGeom>
          <a:solidFill>
            <a:srgbClr val="F7F7F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809750" y="5753100"/>
            <a:ext cx="803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验证材料：QEMU serial.log / judge-summary.json / results/&lt;timestamp&gt;/</a:t>
            </a:r>
            <a:endParaRPr sz="1200" b="1">
              <a:solidFill>
                <a:srgbClr val="17203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19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开发迭代路线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从基础闭环到评测扩展的真实提交轨迹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椭圆 5"/>
          <p:cNvSpPr>
            <a:spLocks noGrp="1"/>
          </p:cNvSpPr>
          <p:nvPr/>
        </p:nvSpPr>
        <p:spPr>
          <a:xfrm>
            <a:off x="781050" y="2095500"/>
            <a:ext cx="514350" cy="5143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2247900"/>
            <a:ext cx="742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05/04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295400" y="2333625"/>
            <a:ext cx="1238250" cy="28575"/>
          </a:xfrm>
          <a:prstGeom prst="rect">
            <a:avLst/>
          </a:prstGeom>
          <a:solidFill>
            <a:srgbClr val="D6D6D6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2857500"/>
            <a:ext cx="1428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ELF、MemFS、基础 syscall 与用户程序装载</a:t>
            </a:r>
            <a:endParaRPr sz="1050" b="0">
              <a:solidFill>
                <a:srgbClr val="172033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533650" y="2095500"/>
            <a:ext cx="514350" cy="5143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419350" y="2247900"/>
            <a:ext cx="742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06/05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48000" y="2333625"/>
            <a:ext cx="1238250" cy="28575"/>
          </a:xfrm>
          <a:prstGeom prst="rect">
            <a:avLst/>
          </a:prstGeom>
          <a:solidFill>
            <a:srgbClr val="D6D6D6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2362200" y="2857500"/>
            <a:ext cx="1428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libc-test 接入与默认 harness 收窄</a:t>
            </a:r>
            <a:endParaRPr sz="1050" b="0">
              <a:solidFill>
                <a:srgbClr val="172033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4286250" y="2095500"/>
            <a:ext cx="514350" cy="5143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4171950" y="2247900"/>
            <a:ext cx="742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06/12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800600" y="2333625"/>
            <a:ext cx="1238250" cy="28575"/>
          </a:xfrm>
          <a:prstGeom prst="rect">
            <a:avLst/>
          </a:prstGeom>
          <a:solidFill>
            <a:srgbClr val="D6D6D6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114800" y="2857500"/>
            <a:ext cx="1428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libc-test scoring、iozone 默认路径与 offline vendor</a:t>
            </a:r>
            <a:endParaRPr sz="1050" b="0">
              <a:solidFill>
                <a:srgbClr val="172033"/>
              </a:solidFill>
            </a:endParaRP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6038850" y="2095500"/>
            <a:ext cx="514350" cy="5143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924550" y="2247900"/>
            <a:ext cx="742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06/17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553200" y="2333625"/>
            <a:ext cx="1238250" cy="28575"/>
          </a:xfrm>
          <a:prstGeom prst="rect">
            <a:avLst/>
          </a:prstGeom>
          <a:solidFill>
            <a:srgbClr val="D6D6D6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867400" y="2857500"/>
            <a:ext cx="1428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COW fork、VMA lookup、ext4 page cache/writeback</a:t>
            </a:r>
            <a:endParaRPr sz="1050" b="0">
              <a:solidFill>
                <a:srgbClr val="172033"/>
              </a:solidFill>
            </a:endParaRPr>
          </a:p>
        </p:txBody>
      </p:sp>
      <p:sp>
        <p:nvSpPr>
          <p:cNvPr id="22" name="椭圆 21"/>
          <p:cNvSpPr>
            <a:spLocks noGrp="1"/>
          </p:cNvSpPr>
          <p:nvPr/>
        </p:nvSpPr>
        <p:spPr>
          <a:xfrm>
            <a:off x="7791450" y="2095500"/>
            <a:ext cx="514350" cy="5143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677150" y="2247900"/>
            <a:ext cx="742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06/21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305800" y="2333625"/>
            <a:ext cx="1238250" cy="28575"/>
          </a:xfrm>
          <a:prstGeom prst="rect">
            <a:avLst/>
          </a:prstGeom>
          <a:solidFill>
            <a:srgbClr val="D6D6D6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620000" y="2857500"/>
            <a:ext cx="1428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shutdown、focused LTP、foreground 调度加固</a:t>
            </a:r>
            <a:endParaRPr sz="1050" b="0">
              <a:solidFill>
                <a:srgbClr val="172033"/>
              </a:solidFill>
            </a:endParaRPr>
          </a:p>
        </p:txBody>
      </p:sp>
      <p:sp>
        <p:nvSpPr>
          <p:cNvPr id="26" name="椭圆 25"/>
          <p:cNvSpPr>
            <a:spLocks noGrp="1"/>
          </p:cNvSpPr>
          <p:nvPr/>
        </p:nvSpPr>
        <p:spPr>
          <a:xfrm>
            <a:off x="9544050" y="2095500"/>
            <a:ext cx="514350" cy="5143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9429750" y="2247900"/>
            <a:ext cx="742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33"/>
                </a:solidFill>
              </a:defRPr>
            </a:pPr>
            <a:r>
              <a:rPr sz="975" b="1">
                <a:solidFill>
                  <a:srgbClr val="172033"/>
                </a:solidFill>
              </a:rPr>
              <a:t>06/23-24</a:t>
            </a:r>
            <a:endParaRPr sz="975" b="1">
              <a:solidFill>
                <a:srgbClr val="17203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0058400" y="2333625"/>
            <a:ext cx="1238250" cy="28575"/>
          </a:xfrm>
          <a:prstGeom prst="rect">
            <a:avLst/>
          </a:prstGeom>
          <a:solidFill>
            <a:srgbClr val="D6D6D6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372600" y="2857500"/>
            <a:ext cx="1428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credential/symlink LTP slice、vfat/partition/lmbench bound</a:t>
            </a:r>
            <a:endParaRPr sz="1050" b="0">
              <a:solidFill>
                <a:srgbClr val="172033"/>
              </a:solidFill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1276350" y="4686300"/>
            <a:ext cx="9105900" cy="685800"/>
          </a:xfrm>
          <a:prstGeom prst="roundRect">
            <a:avLst>
              <a:gd name="adj" fmla="val 11111"/>
            </a:avLst>
          </a:prstGeom>
          <a:solidFill>
            <a:srgbClr val="FBFBFB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619250" y="4914900"/>
            <a:ext cx="8458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迭代主线：启动闭环 → libc-test → iozone/libcbench → ext4 写回 → focused LTP → 双架构归档</a:t>
            </a:r>
            <a:endParaRPr sz="1350" b="1">
              <a:solidFill>
                <a:srgbClr val="111111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20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704850" y="419100"/>
            <a:ext cx="819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总结与计划</a:t>
            </a:r>
            <a:endParaRPr sz="2550" b="1">
              <a:solidFill>
                <a:srgbClr val="11111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04850" y="8953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4A4A4A"/>
                </a:solidFill>
              </a:defRPr>
            </a:pPr>
            <a:r>
              <a:rPr sz="1050" b="1">
                <a:solidFill>
                  <a:srgbClr val="4A4A4A"/>
                </a:solidFill>
              </a:rPr>
              <a:t>当前阶段成果与下一步重点</a:t>
            </a:r>
            <a:endParaRPr sz="1050" b="1">
              <a:solidFill>
                <a:srgbClr val="4A4A4A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04850" y="1200150"/>
            <a:ext cx="838200" cy="28575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534650" y="45720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4A4A4A"/>
                </a:solidFill>
              </a:defRPr>
            </a:pPr>
            <a:r>
              <a:rPr sz="1125" b="1">
                <a:solidFill>
                  <a:srgbClr val="4A4A4A"/>
                </a:solidFill>
              </a:rPr>
              <a:t>wll_OS</a:t>
            </a:r>
            <a:endParaRPr sz="1125" b="1">
              <a:solidFill>
                <a:srgbClr val="4A4A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19150" y="1428750"/>
            <a:ext cx="327660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19150" y="1428750"/>
            <a:ext cx="47625" cy="180975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28700" y="16002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阶段成果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28700" y="1981200"/>
            <a:ext cx="29337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完成双架构构建、运行时 ext4 脚本发现、核心 syscall 分层、VFS/FD、mmap/shm/futex/signal/socket 子集，以及多 suite harness 闭环。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457700" y="1428750"/>
            <a:ext cx="327660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457700" y="1428750"/>
            <a:ext cx="47625" cy="180975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667250" y="16002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技术特点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67250" y="1981200"/>
            <a:ext cx="29337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Rust 内核、分层 ABI、真实等待队列、渐进式 LTP、以日志与 parser 为准的验证方式，便于持续定位评测差距。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096250" y="1428750"/>
            <a:ext cx="327660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96250" y="1428750"/>
            <a:ext cx="47625" cy="180975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305800" y="16002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后续工作</a:t>
            </a:r>
            <a:endParaRPr sz="1500" b="1">
              <a:solidFill>
                <a:srgbClr val="11111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05800" y="1981200"/>
            <a:ext cx="29337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A4A4A"/>
                </a:solidFill>
              </a:defRPr>
            </a:pPr>
            <a:r>
              <a:rPr sz="1125" b="0">
                <a:solidFill>
                  <a:srgbClr val="4A4A4A"/>
                </a:solidFill>
              </a:rPr>
              <a:t>继续加固 pthread/futex、文件系统写回、pipe/进程性能、symlink/readlinkat 语义，并推进网络外部数据通路。</a:t>
            </a:r>
            <a:endParaRPr sz="1125" b="0">
              <a:solidFill>
                <a:srgbClr val="4A4A4A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1371600" y="4095750"/>
            <a:ext cx="8915400" cy="8001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371600" y="4305300"/>
            <a:ext cx="8915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wll_OS 已形成一条可复现的双架构内核评测路径</a:t>
            </a:r>
            <a:endParaRPr sz="1875" b="1">
              <a:solidFill>
                <a:srgbClr val="172033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371600" y="4667250"/>
            <a:ext cx="891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defRPr sz="1275" b="0">
                <a:solidFill>
                  <a:srgbClr val="4A4A4A"/>
                </a:solidFill>
              </a:defRPr>
            </a:pPr>
            <a:r>
              <a:rPr sz="1275" b="0">
                <a:solidFill>
                  <a:srgbClr val="4A4A4A"/>
                </a:solidFill>
              </a:rPr>
              <a:t>构建产物、运行时镜像、串口日志、parser 结果与模块化实现相互对应</a:t>
            </a:r>
            <a:endParaRPr sz="1275" b="0">
              <a:solidFill>
                <a:srgbClr val="4A4A4A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0839450" y="6191250"/>
            <a:ext cx="59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4A4A4A"/>
                </a:solidFill>
              </a:defRPr>
            </a:pPr>
            <a:r>
              <a:rPr sz="975" b="0">
                <a:solidFill>
                  <a:srgbClr val="4A4A4A"/>
                </a:solidFill>
              </a:rPr>
              <a:t>21</a:t>
            </a:r>
            <a:endParaRPr sz="975" b="0">
              <a:solidFill>
                <a:srgbClr val="4A4A4A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857250" y="3238500"/>
            <a:ext cx="3429000" cy="19050"/>
          </a:xfrm>
          <a:prstGeom prst="rect">
            <a:avLst/>
          </a:prstGeom>
          <a:solidFill>
            <a:srgbClr val="172033"/>
          </a:solidFill>
          <a:ln w="9525">
            <a:solidFill>
              <a:srgbClr val="172033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2428875"/>
            <a:ext cx="5715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4200" b="1">
                <a:solidFill>
                  <a:srgbClr val="172033"/>
                </a:solidFill>
              </a:defRPr>
            </a:pPr>
            <a:r>
              <a:rPr sz="4200" b="1">
                <a:solidFill>
                  <a:srgbClr val="172033"/>
                </a:solidFill>
              </a:rPr>
              <a:t>谢谢大家</a:t>
            </a:r>
            <a:endParaRPr sz="4200" b="1">
              <a:solidFill>
                <a:srgbClr val="17203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95350" y="3476625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033"/>
                </a:solidFill>
              </a:defRPr>
            </a:pPr>
            <a:r>
              <a:rPr sz="2400" b="1">
                <a:solidFill>
                  <a:srgbClr val="172033"/>
                </a:solidFill>
              </a:rPr>
              <a:t>Q &amp; A</a:t>
            </a:r>
            <a:endParaRPr sz="2400" b="1">
              <a:solidFill>
                <a:srgbClr val="1720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95350" y="57150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wll_OS · T2026105749910208</a:t>
            </a:r>
            <a:endParaRPr sz="1350" b="0">
              <a:solidFill>
                <a:srgbClr val="172033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8867</Words>
  <Application>WPS 演示</Application>
  <PresentationFormat>Converted Presentation</PresentationFormat>
  <Paragraphs>782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9" baseType="lpstr">
      <vt:lpstr>Arial</vt:lpstr>
      <vt:lpstr>宋体</vt:lpstr>
      <vt:lpstr>Wingdings</vt:lpstr>
      <vt:lpstr>Calibri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吴秉谦</cp:lastModifiedBy>
  <cp:revision>1</cp:revision>
  <dcterms:created xsi:type="dcterms:W3CDTF">2026-06-27T13:17:38Z</dcterms:created>
  <dcterms:modified xsi:type="dcterms:W3CDTF">2026-06-27T13:17:39Z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C6D54CCBC4A54CB49FEAD265A13844AD_13</vt:lpwstr>
  </property>
  <property fmtid="{D5CDD505-2E9C-101B-9397-08002B2CF9AE}" pid="3" name="KSOProductBuildVer">
    <vt:lpwstr>2052-12.1.0.26895</vt:lpwstr>
  </property>
</Properties>
</file>