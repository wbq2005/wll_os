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3733800"/>
            <a:ext cx="4095750" cy="19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562100"/>
            <a:ext cx="4953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500" b="1">
                <a:solidFill>
                  <a:srgbClr val="172033"/>
                </a:solidFill>
              </a:defRPr>
            </a:pPr>
            <a:r>
              <a:rPr sz="4500" b="1">
                <a:solidFill>
                  <a:srgbClr val="172033"/>
                </a:solidFill>
              </a:rPr>
              <a:t>wll_OS</a:t>
            </a:r>
            <a:endParaRPr sz="4500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24574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中国大学生计算机系统能力大赛 · 操作系统内核赛道</a:t>
            </a:r>
            <a:endParaRPr sz="1650" b="0">
              <a:solidFill>
                <a:srgbClr val="17203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30099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初赛汇报</a:t>
            </a:r>
            <a:endParaRPr sz="2850" b="1">
              <a:solidFill>
                <a:srgbClr val="17203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3905250"/>
            <a:ext cx="110490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95287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RISC-V64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33600" y="3905250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133600" y="3952875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LoongArch64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57600" y="3905250"/>
            <a:ext cx="125730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57600" y="3952875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Rust Kernel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575310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队伍 ID：T2026105749910208    学校：华南师范大学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0" y="57531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2026 / 06</a:t>
            </a:r>
            <a:endParaRPr sz="1350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目录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参考往年优秀作品结构：介绍、成果、架构、核心模块、总结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571625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17430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01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943100" y="17049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项目介绍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29150" y="17430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定位、目标与设计原则</a:t>
            </a:r>
            <a:endParaRPr sz="1200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2409825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5812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02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43100" y="25431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最终成果展示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29150" y="2581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双架构、测试脚本发现与评测路径</a:t>
            </a:r>
            <a:endParaRPr sz="1200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3248025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34194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03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943100" y="3381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总体架构设计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629150" y="34194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HAL、syscall、VFS、task、mm 的分层协作</a:t>
            </a:r>
            <a:endParaRPr sz="1200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76300" y="4086225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81100" y="42576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04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943100" y="42195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模块与代码实现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29150" y="42576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系统调用、内存、任务、文件系统、信号/网络</a:t>
            </a:r>
            <a:endParaRPr sz="1200" b="0">
              <a:solidFill>
                <a:srgbClr val="4A4A4A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76300" y="4924425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81100" y="5095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05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943100" y="50577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测试验证与计划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29150" y="50958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当前覆盖、结果材料与后续计划</a:t>
            </a:r>
            <a:endParaRPr sz="1200" b="0">
              <a:solidFill>
                <a:srgbClr val="4A4A4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02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项目介绍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wll_OS：面向真实评测语义的 Rust 双架构内核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447800"/>
            <a:ext cx="9810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wll_OS 是一个面向 2026 操作系统内核赛道的 Rust 内核项目，当前支持 RISC-V64 与 LoongArch64。项目目标不是“打印通过标记”，而是以 QEMU 串口日志和 judge parser 输出为准，逐步逼近 Linux/asm-generic ABI 的真实可用子集。</a:t>
            </a:r>
            <a:endParaRPr sz="1500" b="0">
              <a:solidFill>
                <a:srgbClr val="17203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714625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90512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335280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目标架构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RISC-V64 / LoongArch64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162300" y="2714625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162300" y="29051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80+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76600" y="3352800"/>
            <a:ext cx="2152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已接入/兼容的 syscall 分支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覆盖 libc 与评测常见路径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829300" y="2714625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29300" y="29051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24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43600" y="3352800"/>
            <a:ext cx="2152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运行时发现脚本数量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glibc + musl 多 suite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496300" y="2714625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496300" y="29051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21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10600" y="3352800"/>
            <a:ext cx="2152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LTP slice case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按子系统渐进扩展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76300" y="4476750"/>
            <a:ext cx="2038350" cy="8763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4648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双架构目标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49911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RISC-V64</a:t>
            </a:r>
            <a:endParaRPr sz="1125" b="0">
              <a:solidFill>
                <a:srgbClr val="4A4A4A"/>
              </a:solidFill>
            </a:endParaRPr>
          </a:p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LoongArch64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990850" y="4781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→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448050" y="4476750"/>
            <a:ext cx="2038350" cy="8763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48050" y="4648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内核能力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638550" y="49911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syscall / task / mm</a:t>
            </a:r>
            <a:endParaRPr sz="1125" b="0">
              <a:solidFill>
                <a:srgbClr val="4A4A4A"/>
              </a:solidFill>
            </a:endParaRPr>
          </a:p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fs / signal / socket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62600" y="4781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→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19800" y="4476750"/>
            <a:ext cx="2038350" cy="8763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19800" y="4648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运行时输入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10300" y="49911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sdcard ext4</a:t>
            </a:r>
            <a:endParaRPr sz="1125" b="0">
              <a:solidFill>
                <a:srgbClr val="4A4A4A"/>
              </a:solidFill>
            </a:endParaRPr>
          </a:p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BusyBox / libc / LTP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34350" y="4781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→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591550" y="4476750"/>
            <a:ext cx="2038350" cy="8763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91550" y="4648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验证输出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782050" y="49911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serial.log</a:t>
            </a:r>
            <a:endParaRPr sz="1125" b="0">
              <a:solidFill>
                <a:srgbClr val="4A4A4A"/>
              </a:solidFill>
            </a:endParaRPr>
          </a:p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judge parser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03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最终成果展示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从构建产物到运行时 harness 的闭环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1524000"/>
            <a:ext cx="31623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524000"/>
            <a:ext cx="47625" cy="14097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1695450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双架构构建产物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2076450"/>
            <a:ext cx="2819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Makefile all 生成 kernel-rv 与 kernel-la；仓库固定 nightly-2025-01-18，并使用离线 vendor 依赖保障评测环境可复现。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514850" y="1524000"/>
            <a:ext cx="31623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1524000"/>
            <a:ext cx="47625" cy="14097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24400" y="1695450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运行时根文件系统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24400" y="2076450"/>
            <a:ext cx="2819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MemFS 预载 + VirtIO-blk ext4 叠加。默认构建不内嵌测试脚本，运行时从 ext4 扫描 *_testcode.sh。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524000"/>
            <a:ext cx="31623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29600" y="1524000"/>
            <a:ext cx="47625" cy="14097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39150" y="1695450"/>
            <a:ext cx="283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真实脚本执行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39150" y="2076450"/>
            <a:ext cx="2819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Harness 识别 glibc/musl 下的 basic、busybox、lua、libc-test、iozone、libcbench、lmbench、ltp 等脚本，并输出官方分组标记。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" y="3714750"/>
            <a:ext cx="8839200" cy="38100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876300" y="3448050"/>
            <a:ext cx="685800" cy="685800"/>
          </a:xfrm>
          <a:prstGeom prst="ellipse">
            <a:avLst/>
          </a:prstGeom>
          <a:solidFill>
            <a:srgbClr val="F7F7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36385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Boot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polyhal 启动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2686050" y="3448050"/>
            <a:ext cx="685800" cy="685800"/>
          </a:xfrm>
          <a:prstGeom prst="ellipse">
            <a:avLst/>
          </a:prstGeom>
          <a:solidFill>
            <a:srgbClr val="F7F7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686050" y="36385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Mount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45745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VirtIO/ext4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4495800" y="3448050"/>
            <a:ext cx="685800" cy="685800"/>
          </a:xfrm>
          <a:prstGeom prst="ellipse">
            <a:avLst/>
          </a:prstGeom>
          <a:solidFill>
            <a:srgbClr val="F7F7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95800" y="36385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Scan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26720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发现 24 个脚本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305550" y="3448050"/>
            <a:ext cx="685800" cy="685800"/>
          </a:xfrm>
          <a:prstGeom prst="ellipse">
            <a:avLst/>
          </a:prstGeom>
          <a:solidFill>
            <a:srgbClr val="F7F7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305550" y="36385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Run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7695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前台串行执行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8115300" y="3448050"/>
            <a:ext cx="685800" cy="685800"/>
          </a:xfrm>
          <a:prstGeom prst="ellipse">
            <a:avLst/>
          </a:prstGeom>
          <a:solidFill>
            <a:srgbClr val="F7F7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115300" y="36385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Judge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8670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串口日志解析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9925050" y="3448050"/>
            <a:ext cx="685800" cy="685800"/>
          </a:xfrm>
          <a:prstGeom prst="ellipse">
            <a:avLst/>
          </a:prstGeom>
          <a:solidFill>
            <a:srgbClr val="F7F7F7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925050" y="36385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Poweroff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696450" y="43243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主动关机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95350" y="5219700"/>
            <a:ext cx="981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证据示例：os_serial_out_rv.txt 中记录 total files found=6368、脚本发现、OS COMP TEST GROUP START/END，以及最终 shutdown。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04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2095500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总体架构设计</a:t>
            </a:r>
            <a:endParaRPr sz="3600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295275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A4A4A"/>
                </a:solidFill>
              </a:defRPr>
            </a:pPr>
            <a:r>
              <a:rPr sz="1650" b="0">
                <a:solidFill>
                  <a:srgbClr val="4A4A4A"/>
                </a:solidFill>
              </a:rPr>
              <a:t>分层、可替换、以 Linux 兼容子集为验收单位</a:t>
            </a:r>
            <a:endParaRPr sz="1650" b="0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144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HAL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1717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1717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VFS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290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Task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6863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MM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436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436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Syscall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34450" y="5962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wll_OS 初赛汇报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05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wll_OS 内核架构图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Rust 内核 · RISC-V64 / LoongArch64 双架构 · 面向真实评测路径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409700"/>
            <a:ext cx="81724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600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用户态与测试入口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914650" y="1581150"/>
            <a:ext cx="13144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90850" y="16764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libc / BusyBox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343400" y="1581150"/>
            <a:ext cx="13144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19600" y="16764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benchmark / LTP slice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772150" y="1581150"/>
            <a:ext cx="13144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848350" y="16764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init / shell / harness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200900" y="1581150"/>
            <a:ext cx="13144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77100" y="16764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Linux ABI 子集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0" y="21336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↓</a:t>
            </a:r>
            <a:endParaRPr sz="2025" b="1">
              <a:solidFill>
                <a:srgbClr val="17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04850" y="2457450"/>
            <a:ext cx="81724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2686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wll_OS Kernel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400300" y="27241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A4A4A"/>
                </a:solidFill>
              </a:defRPr>
            </a:pPr>
            <a:r>
              <a:rPr sz="1275" b="0">
                <a:solidFill>
                  <a:srgbClr val="4A4A4A"/>
                </a:solidFill>
              </a:rPr>
              <a:t>系统调用、任务、内存、文件系统与驱动协同</a:t>
            </a:r>
            <a:endParaRPr sz="1275" b="0">
              <a:solidFill>
                <a:srgbClr val="4A4A4A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0600" y="3105150"/>
            <a:ext cx="7600950" cy="514350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19200" y="32289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系统调用层 syscall/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333750" y="3267075"/>
            <a:ext cx="440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process · fs · mm · signal · net · user · time/misc</a:t>
            </a:r>
            <a:endParaRPr sz="1200" b="0">
              <a:solidFill>
                <a:srgbClr val="4A4A4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3638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↓</a:t>
            </a:r>
            <a:endParaRPr sz="1875" b="1">
              <a:solidFill>
                <a:srgbClr val="17203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90600" y="3924300"/>
            <a:ext cx="22288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81100" y="4095750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任务与调度 task/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81100" y="4400550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TCB / 线程组 / PID</a:t>
            </a:r>
            <a:endParaRPr sz="1050" b="0">
              <a:solidFill>
                <a:srgbClr val="4A4A4A"/>
              </a:solidFill>
            </a:endParaRPr>
          </a:p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wait queue / timer</a:t>
            </a:r>
            <a:endParaRPr sz="1050" b="0">
              <a:solidFill>
                <a:srgbClr val="4A4A4A"/>
              </a:solidFill>
            </a:endParaRPr>
          </a:p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signal / futex wait path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676650" y="3924300"/>
            <a:ext cx="22288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867150" y="4095750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内存管理 mm/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867150" y="4400550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页表 / 物理页分配 / heap</a:t>
            </a:r>
            <a:endParaRPr sz="1050" b="0">
              <a:solidFill>
                <a:srgbClr val="4A4A4A"/>
              </a:solidFill>
            </a:endParaRPr>
          </a:p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地址空间 / VMA / ELF loader</a:t>
            </a:r>
            <a:endParaRPr sz="1050" b="0">
              <a:solidFill>
                <a:srgbClr val="4A4A4A"/>
              </a:solidFill>
            </a:endParaRPr>
          </a:p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brk / mmap / shm / mprotect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362700" y="3924300"/>
            <a:ext cx="22288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53200" y="4095750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文件系统 fs/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553200" y="4400550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VFS / FD table / MemFS</a:t>
            </a:r>
            <a:endParaRPr sz="1050" b="0">
              <a:solidFill>
                <a:srgbClr val="4A4A4A"/>
              </a:solidFill>
            </a:endParaRPr>
          </a:p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ext4 runtime volume / VFAT</a:t>
            </a:r>
            <a:endParaRPr sz="1050" b="0">
              <a:solidFill>
                <a:srgbClr val="4A4A4A"/>
              </a:solidFill>
            </a:endParaRPr>
          </a:p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pipe / socket / pseudo device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276600" y="43434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→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962650" y="43434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→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990600" y="5086350"/>
            <a:ext cx="222885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66800" y="5162550"/>
            <a:ext cx="2076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Trap / interrupt / exception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3676650" y="5086350"/>
            <a:ext cx="222885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752850" y="5162550"/>
            <a:ext cx="2076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HAL: polyhal + arch config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362700" y="5086350"/>
            <a:ext cx="2228850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38900" y="5162550"/>
            <a:ext cx="2076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Drivers: VirtIO MMIO / PCI Block</a:t>
            </a:r>
            <a:endParaRPr sz="975" b="0">
              <a:solidFill>
                <a:srgbClr val="172033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704850" y="5581650"/>
            <a:ext cx="81724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52500" y="57150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运行平台与外部设备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52500" y="5981700"/>
            <a:ext cx="7600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QEMU virt · riscv64gc-unknown-none-elf / loongarch64-unknown-none · VirtIO blk/net · sdcard-rv.img / sdcard-la.img</a:t>
            </a:r>
            <a:endParaRPr sz="900" b="1">
              <a:solidFill>
                <a:srgbClr val="172033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9258300" y="1409700"/>
            <a:ext cx="2228850" cy="480060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525000" y="1638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评测证据链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525000" y="1943100"/>
            <a:ext cx="169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以真实串口日志和 parser 输出为准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9620250" y="2533650"/>
            <a:ext cx="152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810750" y="2609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构建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0" y="284797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Makefile / fixed Rust toolchain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182225" y="31051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↓</a:t>
            </a:r>
            <a:endParaRPr sz="1575" b="1">
              <a:solidFill>
                <a:srgbClr val="172033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620250" y="3276600"/>
            <a:ext cx="152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810750" y="33528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运行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810750" y="359092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QEMU serial.log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182225" y="38481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↓</a:t>
            </a:r>
            <a:endParaRPr sz="1575" b="1">
              <a:solidFill>
                <a:srgbClr val="172033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9620250" y="4019550"/>
            <a:ext cx="152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810750" y="4095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判定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810750" y="433387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judge-summary.json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0182225" y="45910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↓</a:t>
            </a:r>
            <a:endParaRPr sz="1575" b="1">
              <a:solidFill>
                <a:srgbClr val="172033"/>
              </a:solidFill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9620250" y="4762500"/>
            <a:ext cx="1524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10750" y="48387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归档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810750" y="5076825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results/&lt;timestamp&gt;/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915400" y="38481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→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9620250" y="5467350"/>
            <a:ext cx="1524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810750" y="557212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验证范围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9810750" y="57816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A4A4A"/>
                </a:solidFill>
              </a:defRPr>
            </a:pPr>
            <a:r>
              <a:rPr sz="825" b="0">
                <a:solidFill>
                  <a:srgbClr val="4A4A4A"/>
                </a:solidFill>
              </a:rPr>
              <a:t>LTP slice</a:t>
            </a:r>
            <a:endParaRPr sz="825" b="0">
              <a:solidFill>
                <a:srgbClr val="4A4A4A"/>
              </a:solidFill>
            </a:endParaRPr>
          </a:p>
          <a:p>
            <a:pPr algn="l">
              <a:defRPr sz="825" b="0">
                <a:solidFill>
                  <a:srgbClr val="4A4A4A"/>
                </a:solidFill>
              </a:defRPr>
            </a:pPr>
            <a:r>
              <a:rPr sz="825" b="0">
                <a:solidFill>
                  <a:srgbClr val="4A4A4A"/>
                </a:solidFill>
              </a:rPr>
              <a:t>多 suite harness</a:t>
            </a:r>
            <a:endParaRPr sz="825" b="0">
              <a:solidFill>
                <a:srgbClr val="4A4A4A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06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解耦合的系统调用设计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按功能簇分发，避免在 trap 路径中堆叠细节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50495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1504950"/>
            <a:ext cx="47625" cy="14478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6764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fs.rs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057400"/>
            <a:ext cx="2038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openat / read / write / pipe2 / ppoll / pselect6 / statx / link / symlink / sync 等文件与 FD 语义。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390900" y="150495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390900" y="1504950"/>
            <a:ext cx="47625" cy="14478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00450" y="16764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process.rs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00450" y="2057400"/>
            <a:ext cx="2038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clone / execve / wait4 / exit_group / sched_yield；线程组、父子关系与僵尸回收。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76950" y="150495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1504950"/>
            <a:ext cx="47625" cy="14478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286500" y="16764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mm.rs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0" y="2057400"/>
            <a:ext cx="2038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brk / mmap / munmap / mprotect / msync / SysV shm；VMA 拆分、共享内存与文件映射。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763000" y="150495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0" y="1504950"/>
            <a:ext cx="47625" cy="14478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72550" y="16764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signal/net/other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2057400"/>
            <a:ext cx="20383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rt_sig*、kill/tgkill、futex、rlimit、clock、socket loopback 等兼容子集。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238250" y="3714750"/>
            <a:ext cx="9715500" cy="10477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85900" y="4000500"/>
            <a:ext cx="923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syscall(id, args)  →  match syscall_id  →  fs / process / mm / signal / net / other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5353050"/>
            <a:ext cx="962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设计收益：接口集中、实现分层、同类调用复用底层路径；新增 LTP case 时能按子系统逐步扩展，而不是扩散修改。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07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2095500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模块分析</a:t>
            </a:r>
            <a:endParaRPr sz="3600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295275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A4A4A"/>
                </a:solidFill>
              </a:defRPr>
            </a:pPr>
            <a:r>
              <a:rPr sz="1650" b="0">
                <a:solidFill>
                  <a:srgbClr val="4A4A4A"/>
                </a:solidFill>
              </a:rPr>
              <a:t>内存、任务、文件系统、信号、网络五个子系统的协作关系</a:t>
            </a:r>
            <a:endParaRPr sz="1650" b="0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144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内存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1717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1717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任务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290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文件系统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6863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信号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43600" y="3790950"/>
            <a:ext cx="1123950" cy="28575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 w="9525">
            <a:solidFill>
              <a:srgbClr val="F7F7F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43600" y="383857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网络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34450" y="5962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wll_OS 初赛汇报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08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五大模块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模块职责与评测压力对应关系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686300" y="27241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686300" y="2971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wll_OS Kernel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0" y="333375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syscall dispatcher</a:t>
            </a:r>
            <a:endParaRPr sz="1125" b="0">
              <a:solidFill>
                <a:srgbClr val="4A4A4A"/>
              </a:solidFill>
            </a:endParaRPr>
          </a:p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Linux ABI 子集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62050" y="1581150"/>
            <a:ext cx="219075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17716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内存管理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33500" y="211455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VMA / mmap / shm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476750" y="1504950"/>
            <a:ext cx="219075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16954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任务管理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203835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clone / wait / futex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772400" y="1581150"/>
            <a:ext cx="219075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772400" y="17716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文件系统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43850" y="211455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VFS / FD / ext4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476500" y="4533900"/>
            <a:ext cx="219075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76500" y="47244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信号机制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647950" y="506730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rt_sig* / SIGCHLD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667500" y="4533900"/>
            <a:ext cx="219075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67500" y="47244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网络设计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38950" y="506730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socket fd / poll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638550" y="21907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↘</a:t>
            </a:r>
            <a:endParaRPr sz="2550" b="1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81650" y="2305050"/>
            <a:ext cx="40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↓</a:t>
            </a:r>
            <a:endParaRPr sz="2250" b="1">
              <a:solidFill>
                <a:srgbClr val="17203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72350" y="21907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↙</a:t>
            </a:r>
            <a:endParaRPr sz="2550" b="1">
              <a:solidFill>
                <a:srgbClr val="17203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943350" y="400050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↗</a:t>
            </a:r>
            <a:endParaRPr sz="2550" b="1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29450" y="400050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↖</a:t>
            </a:r>
            <a:endParaRPr sz="2550" b="1">
              <a:solidFill>
                <a:srgbClr val="17203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000250" y="5715000"/>
            <a:ext cx="7658100" cy="361950"/>
          </a:xfrm>
          <a:prstGeom prst="roundRect">
            <a:avLst>
              <a:gd name="adj" fmla="val 10526"/>
            </a:avLst>
          </a:prstGeom>
          <a:solidFill>
            <a:srgbClr val="F7F7F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000250" y="5810250"/>
            <a:ext cx="7658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模块映射到评测压力：libc allocator、fork/wait、path case、EINTR、poll/select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09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3.1 内存模块分析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地址映射、VMA 管理与高级内存语义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2950" y="146685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466850"/>
            <a:ext cx="47625" cy="14287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163830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地址空间模型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019300"/>
            <a:ext cx="2990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每个用户任务拥有独立 MemorySet；内核空间共享，高地址映射内核与设备区，用户空间承载 ELF 段、堆、栈与 mmap 区域。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38650" y="146685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38650" y="1466850"/>
            <a:ext cx="47625" cy="14287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163830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VMA 与页表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48200" y="2019300"/>
            <a:ext cx="2990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mmap/munmap/mprotect 围绕 VMA 拆分、合并、权限更新展开；PROT_NONE 保留区可在授予权限时补页。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34350" y="146685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1466850"/>
            <a:ext cx="47625" cy="14287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163830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评测支撑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2019300"/>
            <a:ext cx="29908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brk 满足 libc allocator；匿名 mmap 支撑动态链接和线程栈；SysV shm 支撑 iozone 多进程吞吐场景。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352550" y="3676650"/>
            <a:ext cx="85725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581150" y="39052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ELF / brk / mmap / shm  →  MemorySet + VMA  →  PageTable + FrameAllocator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695450" y="5067300"/>
            <a:ext cx="1714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695450" y="51625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brk</a:t>
            </a:r>
            <a:endParaRPr sz="1425" b="1">
              <a:solidFill>
                <a:srgbClr val="17203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809750" y="5391150"/>
            <a:ext cx="148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heap growth / shrink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790950" y="5067300"/>
            <a:ext cx="1714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790950" y="51625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mmap</a:t>
            </a:r>
            <a:endParaRPr sz="1425" b="1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905250" y="5391150"/>
            <a:ext cx="148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anonymous mapping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886450" y="5067300"/>
            <a:ext cx="1714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886450" y="51625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mprotect</a:t>
            </a:r>
            <a:endParaRPr sz="1425" b="1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00750" y="5391150"/>
            <a:ext cx="148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VMA permission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981950" y="5067300"/>
            <a:ext cx="17145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981950" y="51625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shm</a:t>
            </a:r>
            <a:endParaRPr sz="1425" b="1">
              <a:solidFill>
                <a:srgbClr val="17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96250" y="5391150"/>
            <a:ext cx="148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shared frames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10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3.2 任务模块分析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生命周期、阻塞唤醒与前台 harness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504950"/>
            <a:ext cx="30289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504950"/>
            <a:ext cx="47625" cy="16573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16764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生命周期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057400"/>
            <a:ext cx="26860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clone 创建任务/线程；execve 替换地址空间；exit/exit_group 进入退出清理；wait4 负责父进程回收。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514850" y="1504950"/>
            <a:ext cx="30289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1504950"/>
            <a:ext cx="47625" cy="16573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24400" y="16764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阻塞模型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24400" y="2057400"/>
            <a:ext cx="26860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child wait、IO wait、timer sleep、futex wait 统一进入 Blocked，并通过 wait token 防止过期唤醒。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53400" y="1504950"/>
            <a:ext cx="30289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53400" y="1504950"/>
            <a:ext cx="47625" cy="16573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62950" y="16764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前台执行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62950" y="2057400"/>
            <a:ext cx="26860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测试脚本在 foreground harness 中串行执行；阻塞任务仍走正常 wait queue、timer、signal、futex 路径。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47750" y="4095750"/>
            <a:ext cx="14287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47750" y="42386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Ready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533650" y="42291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933700" y="4095750"/>
            <a:ext cx="14287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33700" y="42386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Running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19600" y="42291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819650" y="4095750"/>
            <a:ext cx="14287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19650" y="42386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Blocked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05550" y="42291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705600" y="4095750"/>
            <a:ext cx="14287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705600" y="42386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Ready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91500" y="42291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591550" y="4095750"/>
            <a:ext cx="14287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591550" y="42386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User Return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47750" y="53340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模块价值：让 basic 的 fork/wait/pipe/yield 与 libc 的 futex、signal interrupt 共享同一套调度事实。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11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3.3 文件系统模块分析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VFS 抽象、运行时 ext4 与 fd 对象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1123950" y="1428750"/>
            <a:ext cx="923925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09700" y="1714500"/>
            <a:ext cx="866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路径层 VFS  →  Dentry/元数据语义  →  FD 对象  →  ext4 / MemFS / pipe / socket / pseudo device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9150" y="2914650"/>
            <a:ext cx="3238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914650"/>
            <a:ext cx="47625" cy="16192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3086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路径与元数据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3467100"/>
            <a:ext cx="2895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openat、newfstatat、statx、access、readlinkat 与 rename 等统一进入 VFS，集中处理错误码和权限语义。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476750" y="2914650"/>
            <a:ext cx="3238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2914650"/>
            <a:ext cx="47625" cy="16192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86300" y="3086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FD 与 IPC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86300" y="3467100"/>
            <a:ext cx="2895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regular file、dir、console、pipe、socket、/dev/null、/dev/zero 都抽象为 fd-table 对象，复用 read/write/poll。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134350" y="2914650"/>
            <a:ext cx="3238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2914650"/>
            <a:ext cx="47625" cy="16192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43900" y="3086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运行时评测盘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43900" y="3467100"/>
            <a:ext cx="2895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默认依赖 VirtIO ext4 提供测试脚本与二进制；避免把测试内容预载进 kernel，结果更接近官方评测。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657350" y="5295900"/>
            <a:ext cx="8096250" cy="457200"/>
          </a:xfrm>
          <a:prstGeom prst="roundRect">
            <a:avLst>
              <a:gd name="adj" fmla="val 8333"/>
            </a:avLst>
          </a:prstGeom>
          <a:solidFill>
            <a:srgbClr val="F7F7F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5429250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访问路径：用户 syscall → VFS path lookup → fd-table → ext4 / MemFS / pipe / socket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12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3.4 信号模块分析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发送、屏蔽、等待与返回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23900" y="1809750"/>
            <a:ext cx="1809750" cy="11049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019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发送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4193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kill / tkill / tgkill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SIGCHLD / SIGPIPE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90800" y="22288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895600" y="1809750"/>
            <a:ext cx="1809750" cy="11049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95600" y="2019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入队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48000" y="24193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按 TGID/TID 定位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pending bitset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62500" y="22288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067300" y="1809750"/>
            <a:ext cx="1809750" cy="11049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067300" y="2019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检查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24193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返回用户态前检查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blocked mask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34200" y="22288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239000" y="1809750"/>
            <a:ext cx="1809750" cy="11049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2019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处理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391400" y="24193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默认动作或用户 handler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SA_RESTORER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22288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→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410700" y="1809750"/>
            <a:ext cx="1809750" cy="11049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410700" y="2019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返回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63100" y="241935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rt_sigreturn 恢复 trap frame</a:t>
            </a:r>
            <a:endParaRPr sz="1050" b="0">
              <a:solidFill>
                <a:srgbClr val="4A4A4A"/>
              </a:solidFill>
            </a:endParaRPr>
          </a:p>
          <a:p>
            <a:pPr algn="ctr">
              <a:defRPr sz="1050" b="0">
                <a:solidFill>
                  <a:srgbClr val="4A4A4A"/>
                </a:solidFill>
              </a:defRPr>
            </a:pPr>
            <a:r>
              <a:rPr sz="1050" b="0">
                <a:solidFill>
                  <a:srgbClr val="4A4A4A"/>
                </a:solidFill>
              </a:rPr>
              <a:t>恢复旧 mask</a:t>
            </a:r>
            <a:endParaRPr sz="1050" b="0">
              <a:solidFill>
                <a:srgbClr val="4A4A4A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352550" y="3848100"/>
            <a:ext cx="4000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352550" y="3848100"/>
            <a:ext cx="47625" cy="12382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562100" y="4019550"/>
            <a:ext cx="3676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与任务模块协同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62100" y="4400550"/>
            <a:ext cx="365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信号可以唤醒 blocked task；等待返回后检查可递送信号，并把 syscall 结果转换为 EINTR。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286500" y="3848100"/>
            <a:ext cx="4000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86500" y="3848100"/>
            <a:ext cx="47625" cy="12382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96050" y="4019550"/>
            <a:ext cx="3676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典型触发场景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96050" y="4400550"/>
            <a:ext cx="365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SIGCHLD 对应 wait 路径，SIGPIPE 对应 pipe 断端，rt_sigtimedwait 消费 child-exit 事件。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2095500" y="5581650"/>
            <a:ext cx="7239000" cy="400050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095500" y="569595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核心链路：pending bitset → blocked mask → handler/default action → rt_sigreturn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13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3.5 网络模块分析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socket fd、端点注册与 readiness 观测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1524000"/>
            <a:ext cx="32385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524000"/>
            <a:ext cx="47625" cy="15049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16954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Socket 生命周期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076450"/>
            <a:ext cx="2895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socket 创建 fd；bind/listen/connect/accept 维护本地端点与 pending connection；accept4 支持 CLOEXEC/NONBLOCK。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76750" y="1524000"/>
            <a:ext cx="32385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76750" y="1524000"/>
            <a:ext cx="47625" cy="15049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86300" y="16954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本地数据通路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2076450"/>
            <a:ext cx="2895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stream 使用 peer byte queue；datagram 使用 bound receive queue；sendto/recvfrom/read/write 共用 fd 状态。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34350" y="1524000"/>
            <a:ext cx="32385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1524000"/>
            <a:ext cx="47625" cy="15049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16954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可观测接口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2076450"/>
            <a:ext cx="2895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poll/select、FIONBIO、FIONREAD、getsockname/getpeername、常见 socket options 提供兼容行为。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314450" y="3981450"/>
            <a:ext cx="8782050" cy="7239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4210050"/>
            <a:ext cx="836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socket fd  →  local endpoint registry  →  stream/datagram queue  →  poll/select readiness</a:t>
            </a:r>
            <a:endParaRPr sz="1575" b="1">
              <a:solidFill>
                <a:srgbClr val="17203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695450" y="5314950"/>
            <a:ext cx="1676400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695450" y="5410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create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95450" y="563880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socket fd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771900" y="5314950"/>
            <a:ext cx="1676400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771900" y="5410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bind/listen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771900" y="563880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endpoint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848350" y="5314950"/>
            <a:ext cx="1676400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848350" y="5410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connect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48350" y="563880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peer link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924800" y="5314950"/>
            <a:ext cx="1676400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924800" y="5410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readiness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924800" y="563880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A4A4A"/>
                </a:solidFill>
              </a:defRPr>
            </a:pPr>
            <a:r>
              <a:rPr sz="900" b="0">
                <a:solidFill>
                  <a:srgbClr val="4A4A4A"/>
                </a:solidFill>
              </a:rPr>
              <a:t>poll/select</a:t>
            </a:r>
            <a:endParaRPr sz="900" b="0">
              <a:solidFill>
                <a:srgbClr val="4A4A4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14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关键代码实现：syscall 分发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os/src/syscall/mod.rs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428750"/>
            <a:ext cx="6553200" cy="4305300"/>
          </a:xfrm>
          <a:prstGeom prst="roundRect">
            <a:avLst>
              <a:gd name="adj" fmla="val 1770"/>
            </a:avLst>
          </a:prstGeom>
          <a:solidFill>
            <a:srgbClr val="FBFBFB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752600"/>
            <a:ext cx="5981700" cy="3600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pub fn syscall(syscall_id: usize, args: [usize; 6]) -&gt; SyscallRet {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match syscall_id {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SYSCALL_OPENAT =&gt; fs::sys_openat(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    args[0] as isize, args[1] as *const u8, args[2] as u32, args[3] as u32),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SYSCALL_READ  =&gt; fs::sys_read(args[0], args[1] as *mut u8, args[2]),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SYSCALL_SOCKET =&gt; net::sys_socket(args[0], args[1], args[2]),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SYSCALL_CLONE =&gt; process::sys_clone(args[0], args[1], args[2], args[3], args[4]),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SYSCALL_MMAP  =&gt; mm::sys_mmap(args[0], args[1], args[2] as i32,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                              args[3] as i32, args[4] as i32, args[5]),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// ... fs / process / mm / signal / net / other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}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}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734300" y="15621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734300" y="1562100"/>
            <a:ext cx="47625" cy="12001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43850" y="17335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体现的设计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43850" y="21145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系统调用入口只负责 ABI 解码与分发，具体语义落到 fs、process、mm、signal、net 等模块。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734300" y="3048000"/>
            <a:ext cx="3238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734300" y="3048000"/>
            <a:ext cx="47625" cy="106680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943850" y="32194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对应 PPT 模块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43850" y="3600450"/>
            <a:ext cx="2895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第 6 页架构图中的 syscall dispatcher；第 7 页的功能簇分发。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772400" y="4610100"/>
            <a:ext cx="3124200" cy="6286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481965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syscall id → module handler → Linux ABI 子集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15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关键代码实现：阻塞与唤醒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os/src/task/wait_queue.rs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428750"/>
            <a:ext cx="6553200" cy="4305300"/>
          </a:xfrm>
          <a:prstGeom prst="roundRect">
            <a:avLst>
              <a:gd name="adj" fmla="val 1770"/>
            </a:avLst>
          </a:prstGeom>
          <a:solidFill>
            <a:srgbClr val="FBFBFB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752600"/>
            <a:ext cx="5981700" cy="3600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let token = task.next_wait_token();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*task.wait_outcome.lock() = None;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*task.block_reason.lock() = Some(self.reason);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self.waiters.lock().push_back(WaitEntry { task: task.clone(), token, key });</a:t>
            </a:r>
            <a:endParaRPr sz="1125" b="0">
              <a:solidFill>
                <a:srgbClr val="172033"/>
              </a:solidFill>
            </a:endParaRPr>
          </a:p>
          <a:p>
            <a:endParaRPr sz="1125"/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if crate::syscall::signal::current_has_unblocked_pending() {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self.remove_waiter(task.pid.0, token);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return Err(SysErrNo::EINTR);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}</a:t>
            </a:r>
            <a:endParaRPr sz="1125" b="0">
              <a:solidFill>
                <a:srgbClr val="172033"/>
              </a:solidFill>
            </a:endParaRPr>
          </a:p>
          <a:p>
            <a:endParaRPr sz="1125"/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block_current_for(self.reason, deadline_us);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match finish_wait(&amp;task, still_waiting, deadline_us) {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WaitOutcome::Interrupted =&gt; Err(SysErrNo::EINTR),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outcome =&gt; Ok(outcome),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}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734300" y="15621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734300" y="1562100"/>
            <a:ext cx="47625" cy="12001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43850" y="17335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体现的设计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43850" y="21145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等待队列用 wait token 区分每次阻塞，避免过期唤醒；信号到达时直接转为 EINTR。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734300" y="30480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734300" y="3048000"/>
            <a:ext cx="47625" cy="12001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943850" y="32194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支撑的场景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43850" y="36004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wait4、pipe、timer sleep、futex wait、rt_sigsuspend 都复用同一套 Blocked/Ready 事实。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810500" y="4762500"/>
            <a:ext cx="3048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43850" y="4924425"/>
            <a:ext cx="2781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Ready → Blocked(wait token) → Woken / EINTR / Timeout</a:t>
            </a:r>
            <a:endParaRPr sz="1125" b="1">
              <a:solidFill>
                <a:srgbClr val="17203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16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关键代码实现：运行时测试发现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os/src/task/harness.rs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1428750"/>
            <a:ext cx="6553200" cy="4305300"/>
          </a:xfrm>
          <a:prstGeom prst="roundRect">
            <a:avLst>
              <a:gd name="adj" fmla="val 1770"/>
            </a:avLst>
          </a:prstGeom>
          <a:solidFill>
            <a:srgbClr val="FBFBFB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752600"/>
            <a:ext cx="5981700" cy="3600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fn discover_script_paths() -&gt; Vec&lt;String&gt; {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let scripts: Vec&lt;String&gt; = crate::fs::ext4_vol::ext4_list_all_file_paths()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.into_iter()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.filter(|path| is_testcode_script(path))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.collect();</a:t>
            </a:r>
            <a:endParaRPr sz="1125" b="0">
              <a:solidFill>
                <a:srgbClr val="172033"/>
              </a:solidFill>
            </a:endParaRPr>
          </a:p>
          <a:p>
            <a:endParaRPr sz="1125"/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#[cfg(feature = "dev-preload")]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if scripts.is_empty() {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return crate::fs::list_files().into_iter()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        .filter(|path| is_testcode_script(path)).collect();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}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    scripts</a:t>
            </a:r>
            <a:endParaRPr sz="1125" b="0">
              <a:solidFill>
                <a:srgbClr val="172033"/>
              </a:solidFill>
            </a:endParaRPr>
          </a:p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}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734300" y="15621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734300" y="1562100"/>
            <a:ext cx="47625" cy="12001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43850" y="17335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体现的设计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43850" y="21145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测试脚本来自运行时 ext4 文件系统，默认不依赖把测试内容预塞进内核镜像。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734300" y="30480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734300" y="3048000"/>
            <a:ext cx="47625" cy="12001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943850" y="32194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验证链路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43850" y="36004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ext4_list_all_file_paths → *_testcode.sh 过滤 → suite 排序 → harness 串行运行。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810500" y="4762500"/>
            <a:ext cx="3048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4924425"/>
            <a:ext cx="274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sdcard ext4 → script scan → harness → serial.log</a:t>
            </a:r>
            <a:endParaRPr sz="1125" b="1">
              <a:solidFill>
                <a:srgbClr val="17203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17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信号与网络模块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异步事件与 socket fd 的系统调用路径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1504950"/>
            <a:ext cx="485775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1809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信号处理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81100" y="2457450"/>
            <a:ext cx="66675" cy="66675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23812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rt_sigaction / rt_sigprocmask 保存 handler、flags、blocked mask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81100" y="2914650"/>
            <a:ext cx="66675" cy="66675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71600" y="28384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rt_sigsuspend / rt_sigtimedwait 进入真实等待路径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81100" y="3371850"/>
            <a:ext cx="66675" cy="66675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32956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kill / tkill / tgkill 支持 TGID/TID 定位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81100" y="3829050"/>
            <a:ext cx="66675" cy="66675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71600" y="37528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SIGCHLD 与 SIGPIPE 支撑 wait 与 pipe 语义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38900" y="1504950"/>
            <a:ext cx="4857750" cy="3333750"/>
          </a:xfrm>
          <a:prstGeom prst="roundRect">
            <a:avLst>
              <a:gd name="adj" fmla="val 2286"/>
            </a:avLst>
          </a:prstGeom>
          <a:solidFill>
            <a:srgbClr val="FBFBFB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81800" y="1809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网络 fd 子集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800850" y="24574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991350" y="23812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socket / bind / listen / connect / accept 进入 fd-table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800850" y="29146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991350" y="28384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本地 loopback stream 与 datagram 队列可收发 payload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800850" y="33718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991350" y="32956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poll/select 感知 pending accept、receive bytes、shutdown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800850" y="38290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991350" y="37528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getsockname / getpeername / FIONREAD 提供观测接口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266950" y="5314950"/>
            <a:ext cx="71056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266950" y="5448300"/>
            <a:ext cx="7105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共享机制：fd-table、wait queue、EINTR、poll readiness、用户态返回检查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18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测试验证矩阵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以串口日志、judge parser 与仓库结果文件为准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1428750"/>
            <a:ext cx="100012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1600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basic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95600" y="1600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Pass-oriented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857750" y="15811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clone / wait4 / pipe2 / brk / mmap / stat/open 等真实或部分实现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00100" y="2209800"/>
            <a:ext cx="100012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38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busybox / lua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Mostly usable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23622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Shell、文件路径、mmap/brk、time、futex 等支撑常用脚本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0100" y="2990850"/>
            <a:ext cx="100012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31623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libc-test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95600" y="31623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score-complete path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57750" y="31432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默认 musl staged collector；真实 runtest 输出，非 kernel 伪造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00100" y="3771900"/>
            <a:ext cx="100012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66800" y="39433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iozone / libcbench / lmbench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956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benchmark tail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57750" y="39243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ext4 cache、SysV shm、pipe/fd 性能仍是优化重点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0100" y="4552950"/>
            <a:ext cx="10001250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4724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LTP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895600" y="4724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focused slice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57750" y="47053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21 个 credential / access / symlink 相关 case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809750" y="5657850"/>
            <a:ext cx="8039100" cy="342900"/>
          </a:xfrm>
          <a:prstGeom prst="roundRect">
            <a:avLst>
              <a:gd name="adj" fmla="val 11111"/>
            </a:avLst>
          </a:prstGeom>
          <a:solidFill>
            <a:srgbClr val="F7F7F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809750" y="5753100"/>
            <a:ext cx="803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验证材料：QEMU serial.log / judge-summary.json / results/&lt;timestamp&gt;/</a:t>
            </a:r>
            <a:endParaRPr sz="1200" b="1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19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开发迭代路线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从基础闭环到评测扩展的真实提交轨迹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781050" y="2095500"/>
            <a:ext cx="514350" cy="514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2479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05/04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2333625"/>
            <a:ext cx="1238250" cy="28575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857500"/>
            <a:ext cx="142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ELF、MemFS、基础 syscall 与用户程序装载</a:t>
            </a:r>
            <a:endParaRPr sz="1050" b="0">
              <a:solidFill>
                <a:srgbClr val="17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533650" y="2095500"/>
            <a:ext cx="514350" cy="514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419350" y="22479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06/05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48000" y="2333625"/>
            <a:ext cx="1238250" cy="28575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362200" y="2857500"/>
            <a:ext cx="142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libc-test 接入与默认 harness 收窄</a:t>
            </a:r>
            <a:endParaRPr sz="1050" b="0">
              <a:solidFill>
                <a:srgbClr val="17203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4286250" y="2095500"/>
            <a:ext cx="514350" cy="514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171950" y="22479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06/12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00600" y="2333625"/>
            <a:ext cx="1238250" cy="28575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114800" y="2857500"/>
            <a:ext cx="142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libc-test scoring、iozone 默认路径与 offline vendor</a:t>
            </a:r>
            <a:endParaRPr sz="1050" b="0">
              <a:solidFill>
                <a:srgbClr val="172033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038850" y="2095500"/>
            <a:ext cx="514350" cy="514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924550" y="22479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06/17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53200" y="2333625"/>
            <a:ext cx="1238250" cy="28575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867400" y="2857500"/>
            <a:ext cx="142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COW fork、VMA lookup、ext4 page cache/writeback</a:t>
            </a:r>
            <a:endParaRPr sz="1050" b="0">
              <a:solidFill>
                <a:srgbClr val="17203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791450" y="2095500"/>
            <a:ext cx="514350" cy="514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77150" y="22479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06/21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05800" y="2333625"/>
            <a:ext cx="1238250" cy="28575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20000" y="2857500"/>
            <a:ext cx="142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shutdown、focused LTP、foreground 调度加固</a:t>
            </a:r>
            <a:endParaRPr sz="1050" b="0">
              <a:solidFill>
                <a:srgbClr val="172033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544050" y="2095500"/>
            <a:ext cx="514350" cy="5143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429750" y="224790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06/23-24</a:t>
            </a:r>
            <a:endParaRPr sz="975" b="1">
              <a:solidFill>
                <a:srgbClr val="17203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058400" y="2333625"/>
            <a:ext cx="1238250" cy="28575"/>
          </a:xfrm>
          <a:prstGeom prst="rect">
            <a:avLst/>
          </a:prstGeom>
          <a:solidFill>
            <a:srgbClr val="D6D6D6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72600" y="2857500"/>
            <a:ext cx="142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credential/symlink LTP slice、vfat/partition/lmbench bound</a:t>
            </a:r>
            <a:endParaRPr sz="1050" b="0">
              <a:solidFill>
                <a:srgbClr val="172033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276350" y="4686300"/>
            <a:ext cx="9105900" cy="685800"/>
          </a:xfrm>
          <a:prstGeom prst="roundRect">
            <a:avLst>
              <a:gd name="adj" fmla="val 11111"/>
            </a:avLst>
          </a:prstGeom>
          <a:solidFill>
            <a:srgbClr val="FBFBFB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619250" y="4914900"/>
            <a:ext cx="845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迭代主线：启动闭环 → libc-test → iozone/libcbench → ext4 写回 → focused LTP → 双架构归档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20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AI 使用说明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团队决策主导，AI 辅助实现与整理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466850"/>
            <a:ext cx="419100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19200" y="1790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团队主导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24955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447800" y="24193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确定系统架构与模块边界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257300" y="29527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47800" y="28765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选择 syscall 语义实现顺序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257300" y="34099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47800" y="3333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阅读评测日志并判断问题根因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257300" y="38671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47800" y="37909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决定取舍、合并与最终验证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553200" y="1466850"/>
            <a:ext cx="419100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96100" y="1790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AI 辅助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934200" y="24955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24700" y="24193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生成局部代码草稿和测试思路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934200" y="29527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124700" y="28765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辅助排查编译错误与运行日志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934200" y="34099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124700" y="3333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整理模块文档和汇报材料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6934200" y="3867150"/>
            <a:ext cx="66675" cy="66675"/>
          </a:xfrm>
          <a:prstGeom prst="ellipse">
            <a:avLst/>
          </a:prstGeom>
          <a:solidFill>
            <a:srgbClr val="172033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24700" y="37909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提供备选实现方案供人工筛选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276850" y="2724150"/>
            <a:ext cx="81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→</a:t>
            </a:r>
            <a:endParaRPr sz="3150" b="1">
              <a:solidFill>
                <a:srgbClr val="172033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676400" y="5067300"/>
            <a:ext cx="8267700" cy="666750"/>
          </a:xfrm>
          <a:prstGeom prst="roundRect">
            <a:avLst>
              <a:gd name="adj" fmla="val 11429"/>
            </a:avLst>
          </a:prstGeom>
          <a:solidFill>
            <a:srgbClr val="F7F7F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676400" y="5238750"/>
            <a:ext cx="826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最终代码以人工理解、真实运行和评测结果为准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76400" y="5562600"/>
            <a:ext cx="826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AI 输出不直接作为结论；所有关键修改经过构建、QEMU 运行、串口日志和 parser 结果验证。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21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191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总结与计划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953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A4A4A"/>
                </a:solidFill>
              </a:defRPr>
            </a:pPr>
            <a:r>
              <a:rPr sz="1050" b="1">
                <a:solidFill>
                  <a:srgbClr val="4A4A4A"/>
                </a:solidFill>
              </a:rPr>
              <a:t>当前阶段成果与下一步重点</a:t>
            </a:r>
            <a:endParaRPr sz="1050" b="1">
              <a:solidFill>
                <a:srgbClr val="4A4A4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00150"/>
            <a:ext cx="838200" cy="28575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534650" y="4572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4A4A4A"/>
                </a:solidFill>
              </a:defRPr>
            </a:pPr>
            <a:r>
              <a:rPr sz="1125" b="1">
                <a:solidFill>
                  <a:srgbClr val="4A4A4A"/>
                </a:solidFill>
              </a:rPr>
              <a:t>wll_OS</a:t>
            </a:r>
            <a:endParaRPr sz="1125" b="1">
              <a:solidFill>
                <a:srgbClr val="4A4A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1428750"/>
            <a:ext cx="32766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428750"/>
            <a:ext cx="47625" cy="18097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16002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阶段成果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1981200"/>
            <a:ext cx="2933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完成双架构构建、运行时 ext4 脚本发现、核心 syscall 分层、VFS/FD、mmap/shm/futex/signal/socket 子集，以及多 suite harness 闭环。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57700" y="1428750"/>
            <a:ext cx="32766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57700" y="1428750"/>
            <a:ext cx="47625" cy="18097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67250" y="16002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技术特点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67250" y="1981200"/>
            <a:ext cx="2933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Rust 内核、分层 ABI、真实等待队列、渐进式 LTP、以日志与 parser 为准的验证方式，便于持续定位评测差距。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096250" y="1428750"/>
            <a:ext cx="32766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96250" y="1428750"/>
            <a:ext cx="47625" cy="18097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16002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后续工作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05800" y="1981200"/>
            <a:ext cx="2933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4A4A"/>
                </a:solidFill>
              </a:defRPr>
            </a:pPr>
            <a:r>
              <a:rPr sz="1125" b="0">
                <a:solidFill>
                  <a:srgbClr val="4A4A4A"/>
                </a:solidFill>
              </a:rPr>
              <a:t>继续加固 pthread/futex、文件系统写回、pipe/进程性能、symlink/readlinkat 语义，并推进网络外部数据通路。</a:t>
            </a:r>
            <a:endParaRPr sz="1125" b="0">
              <a:solidFill>
                <a:srgbClr val="4A4A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371600" y="4095750"/>
            <a:ext cx="8915400" cy="8001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371600" y="4305300"/>
            <a:ext cx="891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wll_OS 已形成一条可复现的双架构内核评测路径</a:t>
            </a:r>
            <a:endParaRPr sz="1875" b="1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71600" y="4667250"/>
            <a:ext cx="891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4A4A4A"/>
                </a:solidFill>
              </a:defRPr>
            </a:pPr>
            <a:r>
              <a:rPr sz="1275" b="0">
                <a:solidFill>
                  <a:srgbClr val="4A4A4A"/>
                </a:solidFill>
              </a:rPr>
              <a:t>构建产物、运行时镜像、串口日志、parser 结果与模块化实现相互对应</a:t>
            </a:r>
            <a:endParaRPr sz="1275" b="0">
              <a:solidFill>
                <a:srgbClr val="4A4A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8394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4A4A4A"/>
                </a:solidFill>
              </a:defRPr>
            </a:pPr>
            <a:r>
              <a:rPr sz="975" b="0">
                <a:solidFill>
                  <a:srgbClr val="4A4A4A"/>
                </a:solidFill>
              </a:rPr>
              <a:t>22</a:t>
            </a:r>
            <a:endParaRPr sz="975" b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3238500"/>
            <a:ext cx="3429000" cy="19050"/>
          </a:xfrm>
          <a:prstGeom prst="rect">
            <a:avLst/>
          </a:prstGeom>
          <a:solidFill>
            <a:srgbClr val="172033"/>
          </a:solidFill>
          <a:ln w="9525">
            <a:solidFill>
              <a:srgbClr val="172033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2428875"/>
            <a:ext cx="5715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72033"/>
                </a:solidFill>
              </a:defRPr>
            </a:pPr>
            <a:r>
              <a:rPr sz="4200" b="1">
                <a:solidFill>
                  <a:srgbClr val="172033"/>
                </a:solidFill>
              </a:rPr>
              <a:t>谢谢大家</a:t>
            </a:r>
            <a:endParaRPr sz="4200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34766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Q &amp; A</a:t>
            </a:r>
            <a:endParaRPr sz="2400" b="1">
              <a:solidFill>
                <a:srgbClr val="17203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57150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wll_OS · T2026105749910208</a:t>
            </a:r>
            <a:endParaRPr sz="1350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9083</Words>
  <Application>WPS 演示</Application>
  <PresentationFormat>Converted Presentation</PresentationFormat>
  <Paragraphs>816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吴秉谦</cp:lastModifiedBy>
  <cp:revision>1</cp:revision>
  <dcterms:created xsi:type="dcterms:W3CDTF">2026-06-30T12:51:07Z</dcterms:created>
  <dcterms:modified xsi:type="dcterms:W3CDTF">2026-06-30T12:51:07Z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2659A352939C4626AE96BE73EC0036C6_13</vt:lpwstr>
  </property>
  <property fmtid="{D5CDD505-2E9C-101B-9397-08002B2CF9AE}" pid="3" name="KSOProductBuildVer">
    <vt:lpwstr>2052-12.1.0.26895</vt:lpwstr>
  </property>
</Properties>
</file>